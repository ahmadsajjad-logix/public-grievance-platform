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879ccff4d34d73" /><Relationship Type="http://schemas.openxmlformats.org/officeDocument/2006/relationships/extended-properties" Target="/docProps/app.xml" Id="Ra1120cd744a34548" /><Relationship Type="http://schemas.openxmlformats.org/officeDocument/2006/relationships/officeDocument" Target="/ppt/presentation.xml" Id="R46f4fed7daff4270" /></Relationships>
</file>

<file path=ppt/presentation.xml><?xml version="1.0" encoding="utf-8"?>
<p:presentation xmlns:p="http://schemas.openxmlformats.org/presentationml/2006/main">
  <p:sldMasterIdLst>
    <p:sldMasterId xmlns:r="http://schemas.openxmlformats.org/officeDocument/2006/relationships" id="2147483648" r:id="R04570463a9da4655"/>
  </p:sldMasterIdLst>
  <p:notesMasterIdLst>
    <p:notesMasterId xmlns:r="http://schemas.openxmlformats.org/officeDocument/2006/relationships" r:id="Rad7efedfede943d4"/>
  </p:notesMasterIdLst>
  <p:sldIdLst>
    <p:sldId xmlns:r="http://schemas.openxmlformats.org/officeDocument/2006/relationships" id="256" r:id="Rf65b173135724b4f"/>
    <p:sldId xmlns:r="http://schemas.openxmlformats.org/officeDocument/2006/relationships" id="257" r:id="Rd2baf5906792411e"/>
    <p:sldId xmlns:r="http://schemas.openxmlformats.org/officeDocument/2006/relationships" id="258" r:id="R351f5435aca74357"/>
    <p:sldId xmlns:r="http://schemas.openxmlformats.org/officeDocument/2006/relationships" id="259" r:id="R69e7570ce90b4249"/>
    <p:sldId xmlns:r="http://schemas.openxmlformats.org/officeDocument/2006/relationships" id="260" r:id="Rab04be7bae0d42de"/>
    <p:sldId xmlns:r="http://schemas.openxmlformats.org/officeDocument/2006/relationships" id="261" r:id="R3d9b23dd50df45c5"/>
    <p:sldId xmlns:r="http://schemas.openxmlformats.org/officeDocument/2006/relationships" id="262" r:id="Rddf9ecf903eb452d"/>
    <p:sldId xmlns:r="http://schemas.openxmlformats.org/officeDocument/2006/relationships" id="263" r:id="Rb3c05fcce195468a"/>
    <p:sldId xmlns:r="http://schemas.openxmlformats.org/officeDocument/2006/relationships" id="264" r:id="R87f3c605b7944656"/>
    <p:sldId xmlns:r="http://schemas.openxmlformats.org/officeDocument/2006/relationships" id="265" r:id="R6255afd361ec4e5d"/>
    <p:sldId xmlns:r="http://schemas.openxmlformats.org/officeDocument/2006/relationships" id="266" r:id="R25ff38c887334047"/>
    <p:sldId xmlns:r="http://schemas.openxmlformats.org/officeDocument/2006/relationships" id="267" r:id="R2240498a536a4c59"/>
    <p:sldId xmlns:r="http://schemas.openxmlformats.org/officeDocument/2006/relationships" id="268" r:id="R4fbd1b2b444a4066"/>
    <p:sldId xmlns:r="http://schemas.openxmlformats.org/officeDocument/2006/relationships" id="269" r:id="Rf34772ec0d374839"/>
    <p:sldId xmlns:r="http://schemas.openxmlformats.org/officeDocument/2006/relationships" id="270" r:id="R273ade48715546ad"/>
    <p:sldId xmlns:r="http://schemas.openxmlformats.org/officeDocument/2006/relationships" id="271" r:id="R7b2fd18ab3ca4ad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8711c705698f4950" /><Relationship Type="http://schemas.openxmlformats.org/officeDocument/2006/relationships/slideMaster" Target="/ppt/slideMasters/slideMaster1.xml" Id="R04570463a9da4655" /><Relationship Type="http://schemas.openxmlformats.org/officeDocument/2006/relationships/notesMaster" Target="/ppt/notesMasters/notesMaster1.xml" Id="Rad7efedfede943d4" /><Relationship Type="http://schemas.openxmlformats.org/officeDocument/2006/relationships/presProps" Target="/ppt/presProps.xml" Id="R9a8810a8f8754c49" /><Relationship Type="http://schemas.openxmlformats.org/officeDocument/2006/relationships/viewProps" Target="/ppt/viewProps.xml" Id="R62a16e17e1194e87" /><Relationship Type="http://schemas.openxmlformats.org/officeDocument/2006/relationships/tableStyles" Target="/ppt/tableStyles.xml" Id="Rf812e152f9854b0c" /><Relationship Type="http://schemas.openxmlformats.org/officeDocument/2006/relationships/slide" Target="/ppt/slides/slide1.xml" Id="Rf65b173135724b4f" /><Relationship Type="http://schemas.openxmlformats.org/officeDocument/2006/relationships/slide" Target="/ppt/slides/slide2.xml" Id="Rd2baf5906792411e" /><Relationship Type="http://schemas.openxmlformats.org/officeDocument/2006/relationships/slide" Target="/ppt/slides/slide3.xml" Id="R351f5435aca74357" /><Relationship Type="http://schemas.openxmlformats.org/officeDocument/2006/relationships/slide" Target="/ppt/slides/slide4.xml" Id="R69e7570ce90b4249" /><Relationship Type="http://schemas.openxmlformats.org/officeDocument/2006/relationships/slide" Target="/ppt/slides/slide5.xml" Id="Rab04be7bae0d42de" /><Relationship Type="http://schemas.openxmlformats.org/officeDocument/2006/relationships/slide" Target="/ppt/slides/slide6.xml" Id="R3d9b23dd50df45c5" /><Relationship Type="http://schemas.openxmlformats.org/officeDocument/2006/relationships/slide" Target="/ppt/slides/slide7.xml" Id="Rddf9ecf903eb452d" /><Relationship Type="http://schemas.openxmlformats.org/officeDocument/2006/relationships/slide" Target="/ppt/slides/slide8.xml" Id="Rb3c05fcce195468a" /><Relationship Type="http://schemas.openxmlformats.org/officeDocument/2006/relationships/slide" Target="/ppt/slides/slide9.xml" Id="R87f3c605b7944656" /><Relationship Type="http://schemas.openxmlformats.org/officeDocument/2006/relationships/slide" Target="/ppt/slides/slide10.xml" Id="R6255afd361ec4e5d" /><Relationship Type="http://schemas.openxmlformats.org/officeDocument/2006/relationships/slide" Target="/ppt/slides/slide11.xml" Id="R25ff38c887334047" /><Relationship Type="http://schemas.openxmlformats.org/officeDocument/2006/relationships/slide" Target="/ppt/slides/slide12.xml" Id="R2240498a536a4c59" /><Relationship Type="http://schemas.openxmlformats.org/officeDocument/2006/relationships/slide" Target="/ppt/slides/slide13.xml" Id="R4fbd1b2b444a4066" /><Relationship Type="http://schemas.openxmlformats.org/officeDocument/2006/relationships/slide" Target="/ppt/slides/slide14.xml" Id="Rf34772ec0d374839" /><Relationship Type="http://schemas.openxmlformats.org/officeDocument/2006/relationships/slide" Target="/ppt/slides/slide15.xml" Id="R273ade48715546ad" /><Relationship Type="http://schemas.openxmlformats.org/officeDocument/2006/relationships/slide" Target="/ppt/slides/slide16.xml" Id="R7b2fd18ab3ca4a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12cb3ff0b54c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9fd94ec90c499b" /><Relationship Type="http://schemas.openxmlformats.org/officeDocument/2006/relationships/notesMaster" Target="/ppt/notesMasters/notesMaster1.xml" Id="Reea4376898284d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3ad959525d4477" /><Relationship Type="http://schemas.openxmlformats.org/officeDocument/2006/relationships/notesMaster" Target="/ppt/notesMasters/notesMaster1.xml" Id="Ra3f1b643b36c46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4daae3f41548d8" /><Relationship Type="http://schemas.openxmlformats.org/officeDocument/2006/relationships/notesMaster" Target="/ppt/notesMasters/notesMaster1.xml" Id="Rbf1de4711f6441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b82c0b771934ed6" /><Relationship Type="http://schemas.openxmlformats.org/officeDocument/2006/relationships/notesMaster" Target="/ppt/notesMasters/notesMaster1.xml" Id="R8f9bbf30b05741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281c37914a46dc" /><Relationship Type="http://schemas.openxmlformats.org/officeDocument/2006/relationships/notesMaster" Target="/ppt/notesMasters/notesMaster1.xml" Id="Re7af64a341af4d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06b6f089eb4dd6" /><Relationship Type="http://schemas.openxmlformats.org/officeDocument/2006/relationships/notesMaster" Target="/ppt/notesMasters/notesMaster1.xml" Id="Rab16736e295748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238ba673414be9" /><Relationship Type="http://schemas.openxmlformats.org/officeDocument/2006/relationships/notesMaster" Target="/ppt/notesMasters/notesMaster1.xml" Id="Rfc9055b279144c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000b713c9449a2" /><Relationship Type="http://schemas.openxmlformats.org/officeDocument/2006/relationships/notesMaster" Target="/ppt/notesMasters/notesMaster1.xml" Id="R67ed8722c66b4d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c39d7f1e8a4b0a" /><Relationship Type="http://schemas.openxmlformats.org/officeDocument/2006/relationships/notesMaster" Target="/ppt/notesMasters/notesMaster1.xml" Id="Raa7e1c9cf19e43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b3b7001410412c" /><Relationship Type="http://schemas.openxmlformats.org/officeDocument/2006/relationships/notesMaster" Target="/ppt/notesMasters/notesMaster1.xml" Id="R9087db65f01b48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47e54123f346e9" /><Relationship Type="http://schemas.openxmlformats.org/officeDocument/2006/relationships/notesMaster" Target="/ppt/notesMasters/notesMaster1.xml" Id="R0456604bbe8447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a154e41f935417a" /><Relationship Type="http://schemas.openxmlformats.org/officeDocument/2006/relationships/notesMaster" Target="/ppt/notesMasters/notesMaster1.xml" Id="Rffe792130b0b4b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2dd56d7e4d456e" /><Relationship Type="http://schemas.openxmlformats.org/officeDocument/2006/relationships/notesMaster" Target="/ppt/notesMasters/notesMaster1.xml" Id="Rc0c976a2d1c346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8aef49b96114b9a" /><Relationship Type="http://schemas.openxmlformats.org/officeDocument/2006/relationships/notesMaster" Target="/ppt/notesMasters/notesMaster1.xml" Id="R3e55777eeae04d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27af5c0e704305" /><Relationship Type="http://schemas.openxmlformats.org/officeDocument/2006/relationships/notesMaster" Target="/ppt/notesMasters/notesMaster1.xml" Id="R34d22aed636f4c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ab8832c989b4aca" /><Relationship Type="http://schemas.openxmlformats.org/officeDocument/2006/relationships/notesMaster" Target="/ppt/notesMasters/notesMaster1.xml" Id="R3a2490ba0a5a4b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presentation for the Pak Angels Pakistan National Impact Challenge.</a:t>
            </a: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names, roles, email addresses and phone numbers supplied by the project owner for inclusion in this presentation and GitHub documentation.</a:t>
            </a: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grievance/llm.py and app.py at fff4e06. https://github.com/ahmadsajjad-logix/public-grievance-platform/tree/fff4e06</a:t>
            </a:r>
          </a:p>
          <a:p xmlns:a="http://schemas.openxmlformats.org/drawingml/2006/main">
            <a:r>
              <a:t>Synthetic Jazz routing succeeded on Streamlit. This is a smoke check, not a multilingual accuracy benchmark. Groq free-tier limits still apply.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app.py, grievance/llm.py, grievance/agents.py and grievance/petitions.py at fff4e06. Request payloads include redacted complaint text, requested relief and official reference extracts as applicable. CNIC/mobile/email patterns are masked. Drafting additionally masks known identity/reference values. Redaction is partial. FIR and RTI retain their researched workflows. Keys are server-side secrets. No automatic authority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grievance/pemra.py, grievance/catalog.py, grievance/guidance.py and grievance/knowledge.py at fff4e06. Council routes: Islamabad, Punjab, Sindh, Khyber Pakhtunkhwa and Balochistan. Source URLs and territory limits remain in the app. No general missing-regional-recipient warning for providers such as Jazz.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of the deployed project captured during the verified update on 4 October 2026.</a:t>
            </a: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Source: Project PRD v1.1; implementation baseline 598ca69. Capability counts describe the demonstration, not independently verified legal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baseline fff4e06, 5 October 2026. Groq integration baseline passed 199 automated tests. Seven AI tests passed after the connection fix. Live synthetic Jazz suggestion succeeded. Live petition drafting has not been separately verified. Directory/profile counts: 95; research_documents() summary count: 314. These counts do not certify legal completeness.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908cec571e41a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69b64ac9614168" /><Relationship Type="http://schemas.openxmlformats.org/officeDocument/2006/relationships/slideLayout" Target="/ppt/slideLayouts/slideLayout1.xml" Id="Rfa9c37033df147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9c37033df147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4359275ef34a42" /><Relationship Type="http://schemas.openxmlformats.org/officeDocument/2006/relationships/notesSlide" Target="/ppt/notesSlides/notesSlide1.xml" Id="R1f0d16f2d90047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fcd666b5c12438b" /><Relationship Type="http://schemas.openxmlformats.org/officeDocument/2006/relationships/notesSlide" Target="/ppt/notesSlides/notesSlide2.xml" Id="Rd3856d20624c42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1ca6d7ecc54d8b" /><Relationship Type="http://schemas.openxmlformats.org/officeDocument/2006/relationships/notesSlide" Target="/ppt/notesSlides/notesSlide3.xml" Id="Re5e61f82106a48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447e267c55245b4" /><Relationship Type="http://schemas.openxmlformats.org/officeDocument/2006/relationships/notesSlide" Target="/ppt/notesSlides/notesSlide4.xml" Id="R61f24a060b4a41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2c1623b4be94e45" /><Relationship Type="http://schemas.openxmlformats.org/officeDocument/2006/relationships/notesSlide" Target="/ppt/notesSlides/notesSlide5.xml" Id="Rcf85940d943149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d0431f0d4e64c1a" /><Relationship Type="http://schemas.openxmlformats.org/officeDocument/2006/relationships/notesSlide" Target="/ppt/notesSlides/notesSlide6.xml" Id="R688ff999b8154d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a3f9ee7be34f33" /><Relationship Type="http://schemas.openxmlformats.org/officeDocument/2006/relationships/notesSlide" Target="/ppt/notesSlides/notesSlide7.xml" Id="R9812d3a73de848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d5dd8404f5488e" /><Relationship Type="http://schemas.openxmlformats.org/officeDocument/2006/relationships/notesSlide" Target="/ppt/notesSlides/notesSlide8.xml" Id="Rf061878d543f42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691da9d44b3460e" /><Relationship Type="http://schemas.openxmlformats.org/officeDocument/2006/relationships/notesSlide" Target="/ppt/notesSlides/notesSlide9.xml" Id="R4ce0ecf08721409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ac37a61321a4cf4" /><Relationship Type="http://schemas.openxmlformats.org/officeDocument/2006/relationships/notesSlide" Target="/ppt/notesSlides/notesSlide10.xml" Id="Rb2395b8b638349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d01ed09ac8546aa" /><Relationship Type="http://schemas.openxmlformats.org/officeDocument/2006/relationships/notesSlide" Target="/ppt/notesSlides/notesSlide11.xml" Id="R7b8f66cf3e5a40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32d44e367854cca" /><Relationship Type="http://schemas.openxmlformats.org/officeDocument/2006/relationships/notesSlide" Target="/ppt/notesSlides/notesSlide12.xml" Id="R2690938b07f3483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593b1eb0e0e45fb" /><Relationship Type="http://schemas.openxmlformats.org/officeDocument/2006/relationships/notesSlide" Target="/ppt/notesSlides/notesSlide13.xml" Id="R459f8925bab745d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c7400646b2a4aff" /><Relationship Type="http://schemas.openxmlformats.org/officeDocument/2006/relationships/image" Target="/ppt/media/image.jpeg" Id="R02c4646629494ec0" /><Relationship Type="http://schemas.openxmlformats.org/officeDocument/2006/relationships/notesSlide" Target="/ppt/notesSlides/notesSlide14.xml" Id="R122587c4ab5d42c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c13e2be01464587" /><Relationship Type="http://schemas.openxmlformats.org/officeDocument/2006/relationships/notesSlide" Target="/ppt/notesSlides/notesSlide15.xml" Id="Re343f124c375459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8a87bbdeb746f8" /><Relationship Type="http://schemas.openxmlformats.org/officeDocument/2006/relationships/notesSlide" Target="/ppt/notesSlides/notesSlide16.xml" Id="Rf97b431694d9493c" /></Relationships>
</file>

<file path=ppt/slides/slide1.xml><?xml version="1.0" encoding="utf-8"?>
<p:sld xmlns:p="http://schemas.openxmlformats.org/presentationml/2006/main">
  <p:cSld>
    <p:bg>
      <p:bgPr>
        <a:solidFill xmlns:a="http://schemas.openxmlformats.org/drawingml/2006/main">
          <a:srgbClr val="112D3C"/>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902CDDA5-D101-4F14-98E7-D5E6891DB120}"/>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Civic Access</a:t>
            </a:r>
          </a:p>
        </p:txBody>
      </p:sp>
      <p:sp>
        <p:nvSpPr>
          <p:cNvPr id="2" name="Rectangle 1">
            <a:extLst xmlns:a="http://schemas.openxmlformats.org/drawingml/2006/main">
              <a:ext uri="{FF2B5EF4-FFF2-40B4-BE49-F238E27FC236}">
                <a16:creationId xmlns:a16="http://schemas.microsoft.com/office/drawing/2014/main" id="{A4F1CBB9-8527-4143-A023-FE96C0E6D9B9}"/>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BDD9DF"/>
                </a:solidFill>
                <a:latin typeface="Arial"/>
                <a:ea typeface="Arial"/>
                <a:cs typeface="Arial"/>
              </a:defRPr>
            </a:pPr>
            <a:r>
              <a:rPr sz="1200" b="0">
                <a:solidFill>
                  <a:srgbClr val="BDD9DF"/>
                </a:solidFill>
                <a:latin typeface="Arial"/>
                <a:ea typeface="Arial"/>
                <a:cs typeface="Arial"/>
              </a:rPr>
              <a:t>Civic Access  •  </a:t>
            </a:r>
            <a:r>
              <a:rPr sz="1200" b="0">
                <a:solidFill>
                  <a:srgbClr val="BDD9DF"/>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29DC1EA7-77D3-4957-A6F2-A6E83733B677}"/>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BDD9DF"/>
                </a:solidFill>
                <a:latin typeface="Arial"/>
                <a:ea typeface="Arial"/>
                <a:cs typeface="Arial"/>
              </a:defRPr>
            </a:pPr>
            <a:r>
              <a:rPr sz="1350" b="0">
                <a:solidFill>
                  <a:srgbClr val="BDD9DF"/>
                </a:solidFill>
                <a:latin typeface="Arial"/>
                <a:ea typeface="Arial"/>
                <a:cs typeface="Arial"/>
              </a:rPr>
              <a:t>01</a:t>
            </a:r>
          </a:p>
        </p:txBody>
      </p:sp>
      <p:sp>
        <p:nvSpPr>
          <p:cNvPr id="4" name="Rectangle 3">
            <a:extLst xmlns:a="http://schemas.openxmlformats.org/drawingml/2006/main">
              <a:ext uri="{FF2B5EF4-FFF2-40B4-BE49-F238E27FC236}">
                <a16:creationId xmlns:a16="http://schemas.microsoft.com/office/drawing/2014/main" id="{92A1BCEF-9B33-40A8-8A01-C2B920D08B25}"/>
              </a:ext>
            </a:extLst>
          </p:cNvPr>
          <p:cNvSpPr>
            <a:spLocks xmlns:a="http://schemas.openxmlformats.org/drawingml/2006/main" noGrp="1"/>
          </p:cNvSpPr>
          <p:nvPr/>
        </p:nvSpPr>
        <p:spPr>
          <a:xfrm xmlns:a="http://schemas.openxmlformats.org/drawingml/2006/main">
            <a:off x="619125" y="196215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0">
                <a:solidFill>
                  <a:srgbClr val="FFFFFF"/>
                </a:solidFill>
                <a:latin typeface="Arial"/>
                <a:ea typeface="Arial"/>
                <a:cs typeface="Arial"/>
              </a:defRPr>
            </a:pPr>
            <a:r>
              <a:rPr sz="3600" b="0">
                <a:solidFill>
                  <a:srgbClr val="FFFFFF"/>
                </a:solidFill>
                <a:latin typeface="Arial"/>
                <a:ea typeface="Arial"/>
                <a:cs typeface="Arial"/>
              </a:rPr>
              <a:t>Intelligent Public Grievance and</a:t>
            </a:r>
          </a:p>
          <a:p xmlns:a="http://schemas.openxmlformats.org/drawingml/2006/main">
            <a:pPr>
              <a:buNone/>
              <a:defRPr sz="3600" b="0">
                <a:solidFill>
                  <a:srgbClr val="FFFFFF"/>
                </a:solidFill>
                <a:latin typeface="Arial"/>
                <a:ea typeface="Arial"/>
                <a:cs typeface="Arial"/>
              </a:defRPr>
            </a:pPr>
            <a:r>
              <a:rPr sz="3600" b="0">
                <a:solidFill>
                  <a:srgbClr val="FFFFFF"/>
                </a:solidFill>
                <a:latin typeface="Arial"/>
                <a:ea typeface="Arial"/>
                <a:cs typeface="Arial"/>
              </a:rPr>
              <a:t>Statutory Escalation Platform</a:t>
            </a:r>
          </a:p>
        </p:txBody>
      </p:sp>
      <p:sp>
        <p:nvSpPr>
          <p:cNvPr id="5" name="Rectangle 4">
            <a:extLst xmlns:a="http://schemas.openxmlformats.org/drawingml/2006/main">
              <a:ext uri="{FF2B5EF4-FFF2-40B4-BE49-F238E27FC236}">
                <a16:creationId xmlns:a16="http://schemas.microsoft.com/office/drawing/2014/main" id="{C5DD7B4B-BA8E-4F64-BEDD-06DE6B754D8E}"/>
              </a:ext>
            </a:extLst>
          </p:cNvPr>
          <p:cNvSpPr>
            <a:spLocks xmlns:a="http://schemas.openxmlformats.org/drawingml/2006/main" noGrp="1"/>
          </p:cNvSpPr>
          <p:nvPr/>
        </p:nvSpPr>
        <p:spPr>
          <a:xfrm xmlns:a="http://schemas.openxmlformats.org/drawingml/2006/main">
            <a:off x="619125" y="40481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BBDCE2"/>
                </a:solidFill>
                <a:latin typeface="Arial"/>
                <a:ea typeface="Arial"/>
                <a:cs typeface="Arial"/>
              </a:defRPr>
            </a:pPr>
            <a:r>
              <a:rPr sz="2250" b="0">
                <a:solidFill>
                  <a:srgbClr val="BBDCE2"/>
                </a:solidFill>
                <a:latin typeface="Arial"/>
                <a:ea typeface="Arial"/>
                <a:cs typeface="Arial"/>
              </a:rPr>
              <a:t>Complaint guidance, legal context and filing preparation</a:t>
            </a:r>
          </a:p>
          <a:p xmlns:a="http://schemas.openxmlformats.org/drawingml/2006/main">
            <a:pPr>
              <a:buNone/>
              <a:defRPr sz="2250" b="0">
                <a:solidFill>
                  <a:srgbClr val="BBDCE2"/>
                </a:solidFill>
                <a:latin typeface="Arial"/>
                <a:ea typeface="Arial"/>
                <a:cs typeface="Arial"/>
              </a:defRPr>
            </a:pPr>
            <a:r>
              <a:rPr sz="2250" b="0">
                <a:solidFill>
                  <a:srgbClr val="BBDCE2"/>
                </a:solidFill>
                <a:latin typeface="Arial"/>
                <a:ea typeface="Arial"/>
                <a:cs typeface="Arial"/>
              </a:rPr>
              <a:t>for citizens in Pakistan</a:t>
            </a:r>
          </a:p>
        </p:txBody>
      </p:sp>
      <p:sp>
        <p:nvSpPr>
          <p:cNvPr id="6" name="Rectangle 5">
            <a:extLst xmlns:a="http://schemas.openxmlformats.org/drawingml/2006/main">
              <a:ext uri="{FF2B5EF4-FFF2-40B4-BE49-F238E27FC236}">
                <a16:creationId xmlns:a16="http://schemas.microsoft.com/office/drawing/2014/main" id="{A6378209-8AE6-4ED6-AB4C-412E24D1BBD3}"/>
              </a:ext>
            </a:extLst>
          </p:cNvPr>
          <p:cNvSpPr>
            <a:spLocks xmlns:a="http://schemas.openxmlformats.org/drawingml/2006/main" noGrp="1"/>
          </p:cNvSpPr>
          <p:nvPr/>
        </p:nvSpPr>
        <p:spPr>
          <a:xfrm xmlns:a="http://schemas.openxmlformats.org/drawingml/2006/main">
            <a:off x="619125" y="54578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FFFFFF"/>
                </a:solidFill>
                <a:latin typeface="Arial"/>
                <a:ea typeface="Arial"/>
                <a:cs typeface="Arial"/>
              </a:defRPr>
            </a:pPr>
            <a:r>
              <a:rPr sz="1725" b="0">
                <a:solidFill>
                  <a:srgbClr val="FFFFFF"/>
                </a:solidFill>
                <a:latin typeface="Arial"/>
                <a:ea typeface="Arial"/>
                <a:cs typeface="Arial"/>
              </a:rPr>
              <a:t>Pak Angels • Pakistan National Impact Challenge</a:t>
            </a:r>
          </a:p>
        </p:txBody>
      </p:sp>
    </p:spTree>
    <p:extLst>
      <p:ext uri="{BB962C8B-B14F-4D97-AF65-F5344CB8AC3E}">
        <p14:creationId xmlns:p14="http://schemas.microsoft.com/office/powerpoint/2010/main" val="1923552708"/>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655A267C-6C41-4EBE-83EE-2C3400E3FE92}"/>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Project team</a:t>
            </a:r>
          </a:p>
        </p:txBody>
      </p:sp>
      <p:sp>
        <p:nvSpPr>
          <p:cNvPr id="2" name="Rectangle 1">
            <a:extLst xmlns:a="http://schemas.openxmlformats.org/drawingml/2006/main">
              <a:ext uri="{FF2B5EF4-FFF2-40B4-BE49-F238E27FC236}">
                <a16:creationId xmlns:a16="http://schemas.microsoft.com/office/drawing/2014/main" id="{C404E8A8-355A-42D3-AD9D-F127929928D1}"/>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16A243B5-8AEC-49A3-9CAE-997A228B46C7}"/>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02</a:t>
            </a:r>
          </a:p>
        </p:txBody>
      </p:sp>
      <p:graphicFrame>
        <p:nvGraphicFramePr>
          <p:cNvPr id="12" name="Table 9"/>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2238375"/>
                <a:gridCol w="2000250"/>
                <a:gridCol w="4381500"/>
                <a:gridCol w="2352675"/>
              </a:tblGrid>
              <a:tr h="666750">
                <a:tc>
                  <a:txBody>
                    <a:bodyPr/>
                    <a:lstStyle/>
                    <a:p>
                      <a:r>
                        <a:rPr sz="1725" b="1">
                          <a:solidFill>
                            <a:srgbClr val="FFFFFF"/>
                          </a:solidFill>
                          <a:latin typeface="Arial"/>
                          <a:ea typeface="Arial"/>
                          <a:cs typeface="Arial"/>
                        </a:rPr>
                        <a:t>Role</a:t>
                      </a:r>
                    </a:p>
                  </a:txBody>
                  <a:tcPr marL="91440" marR="91440" marT="45720" marB="45720">
                    <a:solidFill>
                      <a:srgbClr val="23485B"/>
                    </a:solidFill>
                  </a:tcPr>
                </a:tc>
                <a:tc>
                  <a:txBody>
                    <a:bodyPr/>
                    <a:lstStyle/>
                    <a:p>
                      <a:r>
                        <a:rPr sz="1725" b="1">
                          <a:solidFill>
                            <a:srgbClr val="FFFFFF"/>
                          </a:solidFill>
                          <a:latin typeface="Arial"/>
                          <a:ea typeface="Arial"/>
                          <a:cs typeface="Arial"/>
                        </a:rPr>
                        <a:t>Name</a:t>
                      </a:r>
                    </a:p>
                  </a:txBody>
                  <a:tcPr marL="91440" marR="91440" marT="45720" marB="45720">
                    <a:solidFill>
                      <a:srgbClr val="23485B"/>
                    </a:solidFill>
                  </a:tcPr>
                </a:tc>
                <a:tc>
                  <a:txBody>
                    <a:bodyPr/>
                    <a:lstStyle/>
                    <a:p>
                      <a:r>
                        <a:rPr sz="1725" b="1">
                          <a:solidFill>
                            <a:srgbClr val="FFFFFF"/>
                          </a:solidFill>
                          <a:latin typeface="Arial"/>
                          <a:ea typeface="Arial"/>
                          <a:cs typeface="Arial"/>
                        </a:rPr>
                        <a:t>Email</a:t>
                      </a:r>
                    </a:p>
                  </a:txBody>
                  <a:tcPr marL="91440" marR="91440" marT="45720" marB="45720">
                    <a:solidFill>
                      <a:srgbClr val="23485B"/>
                    </a:solidFill>
                  </a:tcPr>
                </a:tc>
                <a:tc>
                  <a:txBody>
                    <a:bodyPr/>
                    <a:lstStyle/>
                    <a:p>
                      <a:r>
                        <a:rPr sz="1725" b="1">
                          <a:solidFill>
                            <a:srgbClr val="FFFFFF"/>
                          </a:solidFill>
                          <a:latin typeface="Arial"/>
                          <a:ea typeface="Arial"/>
                          <a:cs typeface="Arial"/>
                        </a:rPr>
                        <a:t>Cell phone</a:t>
                      </a:r>
                    </a:p>
                  </a:txBody>
                  <a:tcPr marL="91440" marR="91440" marT="45720" marB="45720">
                    <a:solidFill>
                      <a:srgbClr val="23485B"/>
                    </a:solidFill>
                  </a:tcPr>
                </a:tc>
              </a:tr>
              <a:tr h="666750">
                <a:tc>
                  <a:txBody>
                    <a:bodyPr/>
                    <a:lstStyle/>
                    <a:p>
                      <a:r>
                        <a:rPr sz="1725" b="0">
                          <a:solidFill>
                            <a:srgbClr val="172F42"/>
                          </a:solidFill>
                          <a:latin typeface="Arial"/>
                          <a:ea typeface="Arial"/>
                          <a:cs typeface="Arial"/>
                        </a:rPr>
                        <a:t>Team Leader</a:t>
                      </a:r>
                    </a:p>
                  </a:txBody>
                  <a:tcPr marL="91440" marR="91440" marT="45720" marB="45720">
                    <a:solidFill>
                      <a:srgbClr val="FFFFFF"/>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Junaid Nagi</a:t>
                      </a:r>
                    </a:p>
                  </a:txBody>
                  <a:tcPr marL="91440" marR="91440" marT="45720" marB="45720">
                    <a:solidFill>
                      <a:srgbClr val="FFFFFF"/>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junaidnagi@gmail.com</a:t>
                      </a:r>
                    </a:p>
                  </a:txBody>
                  <a:tcPr marL="91440" marR="91440" marT="45720" marB="45720">
                    <a:solidFill>
                      <a:srgbClr val="FFFFFF"/>
                    </a:solidFill>
                  </a:tcPr>
                </a:tc>
                <a:tc>
                  <a:txBody>
                    <a:bodyPr/>
                    <a:lstStyle/>
                    <a:p>
                      <a:r>
                        <a:rPr sz="1725" b="0">
                          <a:solidFill>
                            <a:srgbClr val="172F42"/>
                          </a:solidFill>
                          <a:latin typeface="Arial"/>
                          <a:ea typeface="Arial"/>
                          <a:cs typeface="Arial"/>
                        </a:rPr>
                        <a:t>03005525526</a:t>
                      </a:r>
                      <a:endParaRPr sz="1725" b="0">
                        <a:solidFill>
                          <a:srgbClr val="172F42"/>
                        </a:solidFill>
                        <a:latin typeface="Arial"/>
                        <a:ea typeface="Arial"/>
                        <a:cs typeface="Arial"/>
                      </a:endParaRPr>
                    </a:p>
                  </a:txBody>
                  <a:tcPr marL="91440" marR="91440" marT="45720" marB="45720">
                    <a:solidFill>
                      <a:srgbClr val="FFFFFF"/>
                    </a:solidFill>
                  </a:tcPr>
                </a:tc>
              </a:tr>
              <a:tr h="666750">
                <a:tc>
                  <a:txBody>
                    <a:bodyPr/>
                    <a:lstStyle/>
                    <a:p>
                      <a:r>
                        <a:rPr sz="1725" b="0">
                          <a:solidFill>
                            <a:srgbClr val="172F42"/>
                          </a:solidFill>
                          <a:latin typeface="Arial"/>
                          <a:ea typeface="Arial"/>
                          <a:cs typeface="Arial"/>
                        </a:rPr>
                        <a:t>Team Member #01</a:t>
                      </a: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Maleeha Saeed</a:t>
                      </a: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maleehasaeed79@gmail.com</a:t>
                      </a: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03005359436</a:t>
                      </a:r>
                    </a:p>
                  </a:txBody>
                  <a:tcPr marL="91440" marR="91440" marT="45720" marB="45720">
                    <a:solidFill>
                      <a:srgbClr val="EAF1F4"/>
                    </a:solidFill>
                  </a:tcPr>
                </a:tc>
              </a:tr>
              <a:tr h="666750">
                <a:tc>
                  <a:txBody>
                    <a:bodyPr/>
                    <a:lstStyle/>
                    <a:p>
                      <a:r>
                        <a:rPr sz="1725" b="0">
                          <a:solidFill>
                            <a:srgbClr val="172F42"/>
                          </a:solidFill>
                          <a:latin typeface="Arial"/>
                          <a:ea typeface="Arial"/>
                          <a:cs typeface="Arial"/>
                        </a:rPr>
                        <a:t>Team Member #02</a:t>
                      </a:r>
                    </a:p>
                  </a:txBody>
                  <a:tcPr marL="91440" marR="91440" marT="45720" marB="45720">
                    <a:solidFill>
                      <a:srgbClr val="FFFFFF"/>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Sajjad Ahmad</a:t>
                      </a:r>
                    </a:p>
                    <a:p>
                      <a:endParaRPr sz="1725" b="0">
                        <a:solidFill>
                          <a:srgbClr val="172F42"/>
                        </a:solidFill>
                        <a:latin typeface="Arial"/>
                        <a:ea typeface="Arial"/>
                        <a:cs typeface="Arial"/>
                      </a:endParaRPr>
                    </a:p>
                  </a:txBody>
                  <a:tcPr marL="91440" marR="91440" marT="45720" marB="45720">
                    <a:solidFill>
                      <a:srgbClr val="FFFFFF"/>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sajjad.danish@gmail.com</a:t>
                      </a:r>
                      <a:endParaRPr sz="1725" b="0">
                        <a:solidFill>
                          <a:srgbClr val="172F42"/>
                        </a:solidFill>
                        <a:latin typeface="Arial"/>
                        <a:ea typeface="Arial"/>
                        <a:cs typeface="Arial"/>
                      </a:endParaRPr>
                    </a:p>
                  </a:txBody>
                  <a:tcPr marL="91440" marR="91440" marT="45720" marB="45720">
                    <a:solidFill>
                      <a:srgbClr val="FFFFFF"/>
                    </a:solidFill>
                  </a:tcPr>
                </a:tc>
                <a:tc>
                  <a:txBody>
                    <a:bodyPr/>
                    <a:lstStyle/>
                    <a:p>
                      <a:r>
                        <a:rPr sz="1725" b="0">
                          <a:solidFill>
                            <a:srgbClr val="172F42"/>
                          </a:solidFill>
                          <a:latin typeface="Arial"/>
                          <a:ea typeface="Arial"/>
                          <a:cs typeface="Arial"/>
                        </a:rPr>
                        <a:t>03005996696</a:t>
                      </a:r>
                      <a:endParaRPr sz="1725" b="0">
                        <a:solidFill>
                          <a:srgbClr val="172F42"/>
                        </a:solidFill>
                        <a:latin typeface="Arial"/>
                        <a:ea typeface="Arial"/>
                        <a:cs typeface="Arial"/>
                      </a:endParaRPr>
                    </a:p>
                  </a:txBody>
                  <a:tcPr marL="91440" marR="91440" marT="45720" marB="45720">
                    <a:solidFill>
                      <a:srgbClr val="FFFFFF"/>
                    </a:solidFill>
                  </a:tcPr>
                </a:tc>
              </a:tr>
              <a:tr h="666750">
                <a:tc>
                  <a:txBody>
                    <a:bodyPr/>
                    <a:lstStyle/>
                    <a:p>
                      <a:r>
                        <a:rPr sz="1725" b="0">
                          <a:solidFill>
                            <a:srgbClr val="172F42"/>
                          </a:solidFill>
                          <a:latin typeface="Arial"/>
                          <a:ea typeface="Arial"/>
                          <a:cs typeface="Arial"/>
                        </a:rPr>
                        <a:t>Team Member #03</a:t>
                      </a: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Anam Arif</a:t>
                      </a:r>
                    </a:p>
                    <a:p>
                      <a:endParaRPr sz="1725" b="0">
                        <a:solidFill>
                          <a:srgbClr val="172F42"/>
                        </a:solidFill>
                        <a:latin typeface="Arial"/>
                        <a:ea typeface="Arial"/>
                        <a:cs typeface="Arial"/>
                      </a:endParaRP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anamarif28@gmail.com</a:t>
                      </a:r>
                    </a:p>
                    <a:p>
                      <a:endParaRPr sz="1725" b="0">
                        <a:solidFill>
                          <a:srgbClr val="172F42"/>
                        </a:solidFill>
                        <a:latin typeface="Arial"/>
                        <a:ea typeface="Arial"/>
                        <a:cs typeface="Arial"/>
                      </a:endParaRPr>
                    </a:p>
                  </a:txBody>
                  <a:tcPr marL="91440" marR="91440" marT="45720" marB="45720">
                    <a:solidFill>
                      <a:srgbClr val="EAF1F4"/>
                    </a:solidFill>
                  </a:tcPr>
                </a:tc>
                <a:tc>
                  <a:txBody>
                    <a:bodyPr/>
                    <a:lstStyle/>
                    <a:p>
                      <a:pPr marL="0" marR="0" lvl="0" indent="0" algn="l" defTabSz="914400">
                        <a:lnSpc>
                          <a:spcPct val="100000"/>
                        </a:lnSpc>
                        <a:spcBef>
                          <a:spcPts val="0"/>
                        </a:spcBef>
                        <a:spcAft>
                          <a:spcPts val="0"/>
                        </a:spcAft>
                        <a:buClrTx/>
                        <a:buSzTx/>
                        <a:buFontTx/>
                        <a:buNone/>
                      </a:pPr>
                      <a:r>
                        <a:rPr sz="1725" b="0">
                          <a:solidFill>
                            <a:srgbClr val="172F42"/>
                          </a:solidFill>
                          <a:latin typeface="Arial"/>
                          <a:ea typeface="Arial"/>
                          <a:cs typeface="Arial"/>
                        </a:rPr>
                        <a:t>03005025666</a:t>
                      </a:r>
                    </a:p>
                    <a:p>
                      <a:endParaRPr sz="1725" b="0">
                        <a:solidFill>
                          <a:srgbClr val="172F42"/>
                        </a:solidFill>
                        <a:latin typeface="Arial"/>
                        <a:ea typeface="Arial"/>
                        <a:cs typeface="Arial"/>
                      </a:endParaRPr>
                    </a:p>
                  </a:txBody>
                  <a:tcPr marL="91440" marR="91440" marT="45720" marB="45720">
                    <a:solidFill>
                      <a:srgbClr val="EAF1F4"/>
                    </a:solidFill>
                  </a:tcPr>
                </a:tc>
              </a:tr>
            </a:tbl>
          </a:graphicData>
        </a:graphic>
      </p:graphicFrame>
      <p:sp>
        <p:nvSpPr>
          <p:cNvPr id="5" name="Rectangle 4">
            <a:extLst xmlns:a="http://schemas.openxmlformats.org/drawingml/2006/main">
              <a:ext uri="{FF2B5EF4-FFF2-40B4-BE49-F238E27FC236}">
                <a16:creationId xmlns:a16="http://schemas.microsoft.com/office/drawing/2014/main" id="{405C0F25-CCB8-4B44-8063-D6AEB79A06B6}"/>
              </a:ext>
            </a:extLst>
          </p:cNvPr>
          <p:cNvSpPr>
            <a:spLocks xmlns:a="http://schemas.openxmlformats.org/drawingml/2006/main" noGrp="1"/>
          </p:cNvSpPr>
          <p:nvPr/>
        </p:nvSpPr>
        <p:spPr>
          <a:xfrm xmlns:a="http://schemas.openxmlformats.org/drawingml/2006/main">
            <a:off x="619125" y="55149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67A79"/>
                </a:solidFill>
                <a:latin typeface="Arial"/>
                <a:ea typeface="Arial"/>
                <a:cs typeface="Arial"/>
              </a:defRPr>
            </a:pPr>
            <a:r>
              <a:rPr sz="2025" b="1">
                <a:solidFill>
                  <a:srgbClr val="167A79"/>
                </a:solidFill>
                <a:latin typeface="Arial"/>
                <a:ea typeface="Arial"/>
                <a:cs typeface="Arial"/>
              </a:rPr>
              <a:t>Live demonstration</a:t>
            </a:r>
          </a:p>
        </p:txBody>
      </p:sp>
      <p:sp>
        <p:nvSpPr>
          <p:cNvPr id="6" name="Rectangle 5">
            <a:extLst xmlns:a="http://schemas.openxmlformats.org/drawingml/2006/main">
              <a:ext uri="{FF2B5EF4-FFF2-40B4-BE49-F238E27FC236}">
                <a16:creationId xmlns:a16="http://schemas.microsoft.com/office/drawing/2014/main" id="{AD3C8A0A-964D-4BC8-AFCC-98B2F3C267CB}"/>
              </a:ext>
            </a:extLst>
          </p:cNvPr>
          <p:cNvSpPr>
            <a:spLocks xmlns:a="http://schemas.openxmlformats.org/drawingml/2006/main" noGrp="1"/>
          </p:cNvSpPr>
          <p:nvPr/>
        </p:nvSpPr>
        <p:spPr>
          <a:xfrm xmlns:a="http://schemas.openxmlformats.org/drawingml/2006/main">
            <a:off x="619125" y="59055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72F42"/>
                </a:solidFill>
                <a:latin typeface="Arial"/>
                <a:ea typeface="Arial"/>
                <a:cs typeface="Arial"/>
              </a:defRPr>
            </a:pPr>
            <a:r>
              <a:rPr sz="1875" b="0">
                <a:solidFill>
                  <a:srgbClr val="172F42"/>
                </a:solidFill>
                <a:latin typeface="Arial"/>
                <a:ea typeface="Arial"/>
                <a:cs typeface="Arial"/>
              </a:rPr>
              <a:t>https://public-grievance-platform.streamlit.app/</a:t>
            </a:r>
          </a:p>
        </p:txBody>
      </p:sp>
    </p:spTree>
    <p:extLst>
      <p:ext uri="{BB962C8B-B14F-4D97-AF65-F5344CB8AC3E}">
        <p14:creationId xmlns:p14="http://schemas.microsoft.com/office/powerpoint/2010/main" val="459423958"/>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C8EC9B9F-DF2A-43B3-B9F4-1842C7F52A18}"/>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The citizen’s problem</a:t>
            </a:r>
          </a:p>
        </p:txBody>
      </p:sp>
      <p:sp>
        <p:nvSpPr>
          <p:cNvPr id="2" name="Rectangle 1">
            <a:extLst xmlns:a="http://schemas.openxmlformats.org/drawingml/2006/main">
              <a:ext uri="{FF2B5EF4-FFF2-40B4-BE49-F238E27FC236}">
                <a16:creationId xmlns:a16="http://schemas.microsoft.com/office/drawing/2014/main" id="{723FF7AB-1D8E-4E16-9751-D3C21E54B015}"/>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ED95196F-8FA9-4A4C-B837-6B2D3600779E}"/>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03</a:t>
            </a:r>
          </a:p>
        </p:txBody>
      </p:sp>
      <p:sp>
        <p:nvSpPr>
          <p:cNvPr id="4" name="Rectangle 3">
            <a:extLst xmlns:a="http://schemas.openxmlformats.org/drawingml/2006/main">
              <a:ext uri="{FF2B5EF4-FFF2-40B4-BE49-F238E27FC236}">
                <a16:creationId xmlns:a16="http://schemas.microsoft.com/office/drawing/2014/main" id="{915828E5-D69F-408C-88A3-14B7FC809461}"/>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01</a:t>
            </a:r>
          </a:p>
        </p:txBody>
      </p:sp>
      <p:sp>
        <p:nvSpPr>
          <p:cNvPr id="5" name="Rectangle 4">
            <a:extLst xmlns:a="http://schemas.openxmlformats.org/drawingml/2006/main">
              <a:ext uri="{FF2B5EF4-FFF2-40B4-BE49-F238E27FC236}">
                <a16:creationId xmlns:a16="http://schemas.microsoft.com/office/drawing/2014/main" id="{77BA6667-26C2-4117-89A1-7657493BC8CA}"/>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Choosing the correct provider or authority is difficult.</a:t>
            </a:r>
          </a:p>
        </p:txBody>
      </p:sp>
      <p:sp>
        <p:nvSpPr>
          <p:cNvPr id="6" name="Rectangle 5">
            <a:extLst xmlns:a="http://schemas.openxmlformats.org/drawingml/2006/main">
              <a:ext uri="{FF2B5EF4-FFF2-40B4-BE49-F238E27FC236}">
                <a16:creationId xmlns:a16="http://schemas.microsoft.com/office/drawing/2014/main" id="{2CD2DAA5-9D11-4A29-A7C5-60A9436EE707}"/>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02</a:t>
            </a:r>
          </a:p>
        </p:txBody>
      </p:sp>
      <p:sp>
        <p:nvSpPr>
          <p:cNvPr id="7" name="Rectangle 6">
            <a:extLst xmlns:a="http://schemas.openxmlformats.org/drawingml/2006/main">
              <a:ext uri="{FF2B5EF4-FFF2-40B4-BE49-F238E27FC236}">
                <a16:creationId xmlns:a16="http://schemas.microsoft.com/office/drawing/2014/main" id="{044FEABB-182B-4A96-BBBA-1FB911DB2DC2}"/>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Rules, evidence requirements and complaint channels are scattered.</a:t>
            </a:r>
          </a:p>
        </p:txBody>
      </p:sp>
      <p:sp>
        <p:nvSpPr>
          <p:cNvPr id="8" name="Rectangle 7">
            <a:extLst xmlns:a="http://schemas.openxmlformats.org/drawingml/2006/main">
              <a:ext uri="{FF2B5EF4-FFF2-40B4-BE49-F238E27FC236}">
                <a16:creationId xmlns:a16="http://schemas.microsoft.com/office/drawing/2014/main" id="{E9EBC8D8-DD77-445C-A694-46640A7C018D}"/>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03</a:t>
            </a:r>
          </a:p>
        </p:txBody>
      </p:sp>
      <p:sp>
        <p:nvSpPr>
          <p:cNvPr id="9" name="Rectangle 8">
            <a:extLst xmlns:a="http://schemas.openxmlformats.org/drawingml/2006/main">
              <a:ext uri="{FF2B5EF4-FFF2-40B4-BE49-F238E27FC236}">
                <a16:creationId xmlns:a16="http://schemas.microsoft.com/office/drawing/2014/main" id="{DA277BD5-439B-4A70-B1E5-D129FB86527D}"/>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An inaccurate recipient or premature escalation can delay action.</a:t>
            </a:r>
          </a:p>
        </p:txBody>
      </p:sp>
      <p:sp>
        <p:nvSpPr>
          <p:cNvPr id="10" name="Rectangle 9">
            <a:extLst xmlns:a="http://schemas.openxmlformats.org/drawingml/2006/main">
              <a:ext uri="{FF2B5EF4-FFF2-40B4-BE49-F238E27FC236}">
                <a16:creationId xmlns:a16="http://schemas.microsoft.com/office/drawing/2014/main" id="{26536133-19FD-4776-A1A4-D4DF36364553}"/>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04</a:t>
            </a:r>
          </a:p>
        </p:txBody>
      </p:sp>
      <p:sp>
        <p:nvSpPr>
          <p:cNvPr id="11" name="Rectangle 10">
            <a:extLst xmlns:a="http://schemas.openxmlformats.org/drawingml/2006/main">
              <a:ext uri="{FF2B5EF4-FFF2-40B4-BE49-F238E27FC236}">
                <a16:creationId xmlns:a16="http://schemas.microsoft.com/office/drawing/2014/main" id="{1F4C6698-048D-45A6-B3F3-435FEB429FBA}"/>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Citizens need a clear filing process and a record they can use.</a:t>
            </a:r>
          </a:p>
        </p:txBody>
      </p:sp>
    </p:spTree>
    <p:extLst>
      <p:ext uri="{BB962C8B-B14F-4D97-AF65-F5344CB8AC3E}">
        <p14:creationId xmlns:p14="http://schemas.microsoft.com/office/powerpoint/2010/main" val="1229309379"/>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E35ED762-99B2-4EB1-8B84-A6878E6D7B37}"/>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What the product helps people do</a:t>
            </a:r>
          </a:p>
        </p:txBody>
      </p:sp>
      <p:sp>
        <p:nvSpPr>
          <p:cNvPr id="2" name="Rectangle 1">
            <a:extLst xmlns:a="http://schemas.openxmlformats.org/drawingml/2006/main">
              <a:ext uri="{FF2B5EF4-FFF2-40B4-BE49-F238E27FC236}">
                <a16:creationId xmlns:a16="http://schemas.microsoft.com/office/drawing/2014/main" id="{5A61CA30-043D-4FC2-A192-3F82233A9B42}"/>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F081888C-0940-4F68-BB39-0B5D1C4A994A}"/>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04</a:t>
            </a:r>
          </a:p>
        </p:txBody>
      </p:sp>
      <p:sp>
        <p:nvSpPr>
          <p:cNvPr id="4" name="Rectangle 3">
            <a:extLst xmlns:a="http://schemas.openxmlformats.org/drawingml/2006/main">
              <a:ext uri="{FF2B5EF4-FFF2-40B4-BE49-F238E27FC236}">
                <a16:creationId xmlns:a16="http://schemas.microsoft.com/office/drawing/2014/main" id="{511C0B1C-193C-4A1B-A3B7-B4CA860E37C5}"/>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01</a:t>
            </a:r>
          </a:p>
        </p:txBody>
      </p:sp>
      <p:sp>
        <p:nvSpPr>
          <p:cNvPr id="5" name="Rectangle 4">
            <a:extLst xmlns:a="http://schemas.openxmlformats.org/drawingml/2006/main">
              <a:ext uri="{FF2B5EF4-FFF2-40B4-BE49-F238E27FC236}">
                <a16:creationId xmlns:a16="http://schemas.microsoft.com/office/drawing/2014/main" id="{AC29EB03-AA95-4B51-8BA7-C4648A09BAD5}"/>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Describe the issue in English, Urdu or Roman Urdu.</a:t>
            </a:r>
          </a:p>
        </p:txBody>
      </p:sp>
      <p:sp>
        <p:nvSpPr>
          <p:cNvPr id="6" name="Rectangle 5">
            <a:extLst xmlns:a="http://schemas.openxmlformats.org/drawingml/2006/main">
              <a:ext uri="{FF2B5EF4-FFF2-40B4-BE49-F238E27FC236}">
                <a16:creationId xmlns:a16="http://schemas.microsoft.com/office/drawing/2014/main" id="{F49D6BBD-6E2C-4CC6-8C84-7B6E0DBEEBFB}"/>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02</a:t>
            </a:r>
          </a:p>
        </p:txBody>
      </p:sp>
      <p:sp>
        <p:nvSpPr>
          <p:cNvPr id="7" name="Rectangle 6">
            <a:extLst xmlns:a="http://schemas.openxmlformats.org/drawingml/2006/main">
              <a:ext uri="{FF2B5EF4-FFF2-40B4-BE49-F238E27FC236}">
                <a16:creationId xmlns:a16="http://schemas.microsoft.com/office/drawing/2014/main" id="{74914126-AF71-4C73-B2DA-95BC43016A42}"/>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Confirm the department and understand its powers and limits.</a:t>
            </a:r>
          </a:p>
        </p:txBody>
      </p:sp>
      <p:sp>
        <p:nvSpPr>
          <p:cNvPr id="8" name="Rectangle 7">
            <a:extLst xmlns:a="http://schemas.openxmlformats.org/drawingml/2006/main">
              <a:ext uri="{FF2B5EF4-FFF2-40B4-BE49-F238E27FC236}">
                <a16:creationId xmlns:a16="http://schemas.microsoft.com/office/drawing/2014/main" id="{3973244B-1831-4A5B-BACD-250DD192B827}"/>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03</a:t>
            </a:r>
          </a:p>
        </p:txBody>
      </p:sp>
      <p:sp>
        <p:nvSpPr>
          <p:cNvPr id="9" name="Rectangle 8">
            <a:extLst xmlns:a="http://schemas.openxmlformats.org/drawingml/2006/main">
              <a:ext uri="{FF2B5EF4-FFF2-40B4-BE49-F238E27FC236}">
                <a16:creationId xmlns:a16="http://schemas.microsoft.com/office/drawing/2014/main" id="{B625FA74-8B48-4984-B6EE-8381FFFA5612}"/>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Prepare the facts, relevant references and optional evidence.</a:t>
            </a:r>
          </a:p>
        </p:txBody>
      </p:sp>
      <p:sp>
        <p:nvSpPr>
          <p:cNvPr id="10" name="Rectangle 9">
            <a:extLst xmlns:a="http://schemas.openxmlformats.org/drawingml/2006/main">
              <a:ext uri="{FF2B5EF4-FFF2-40B4-BE49-F238E27FC236}">
                <a16:creationId xmlns:a16="http://schemas.microsoft.com/office/drawing/2014/main" id="{708F9CD3-22F4-41E3-ABA1-0C33A481C332}"/>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04</a:t>
            </a:r>
          </a:p>
        </p:txBody>
      </p:sp>
      <p:sp>
        <p:nvSpPr>
          <p:cNvPr id="11" name="Rectangle 10">
            <a:extLst xmlns:a="http://schemas.openxmlformats.org/drawingml/2006/main">
              <a:ext uri="{FF2B5EF4-FFF2-40B4-BE49-F238E27FC236}">
                <a16:creationId xmlns:a16="http://schemas.microsoft.com/office/drawing/2014/main" id="{53D389A3-755D-45AC-952B-6F72B96D803C}"/>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Use the official channel and retain the acknowledgment.</a:t>
            </a:r>
          </a:p>
        </p:txBody>
      </p:sp>
    </p:spTree>
    <p:extLst>
      <p:ext uri="{BB962C8B-B14F-4D97-AF65-F5344CB8AC3E}">
        <p14:creationId xmlns:p14="http://schemas.microsoft.com/office/powerpoint/2010/main" val="1179905018"/>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56701E0D-E14E-4168-BFAF-60E64CD0FDD6}"/>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The complaint journey</a:t>
            </a:r>
          </a:p>
        </p:txBody>
      </p:sp>
      <p:sp>
        <p:nvSpPr>
          <p:cNvPr id="2" name="Rectangle 1">
            <a:extLst xmlns:a="http://schemas.openxmlformats.org/drawingml/2006/main">
              <a:ext uri="{FF2B5EF4-FFF2-40B4-BE49-F238E27FC236}">
                <a16:creationId xmlns:a16="http://schemas.microsoft.com/office/drawing/2014/main" id="{B94F9306-DC4B-487F-AFDB-6943A8F7C8FC}"/>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612FE777-6694-41CD-8F50-31E8CD190C54}"/>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05</a:t>
            </a:r>
          </a:p>
        </p:txBody>
      </p:sp>
      <p:graphicFrame>
        <p:nvGraphicFramePr>
          <p:cNvPr id="11" name="Table 8"/>
          <p:cNvGraphicFramePr/>
          <p:nvPr/>
        </p:nvGraphicFramePr>
        <p:xfrm>
          <a:off xmlns:a="http://schemas.openxmlformats.org/drawingml/2006/main" x="609600" y="1695450"/>
          <a:ext xmlns:a="http://schemas.openxmlformats.org/drawingml/2006/main" cx="10972800" cy="3762375"/>
        </p:xfrm>
        <a:graphic xmlns:a="http://schemas.openxmlformats.org/drawingml/2006/main">
          <a:graphicData uri="http://schemas.openxmlformats.org/drawingml/2006/table">
            <a:tbl>
              <a:tblPr/>
              <a:tblGrid>
                <a:gridCol w="2095500"/>
                <a:gridCol w="8877300"/>
              </a:tblGrid>
              <a:tr h="752475">
                <a:tc>
                  <a:txBody>
                    <a:bodyPr/>
                    <a:lstStyle/>
                    <a:p>
                      <a:r>
                        <a:rPr sz="1725" b="1">
                          <a:solidFill>
                            <a:srgbClr val="FFFFFF"/>
                          </a:solidFill>
                          <a:latin typeface="Arial"/>
                          <a:ea typeface="Arial"/>
                          <a:cs typeface="Arial"/>
                        </a:rPr>
                        <a:t>Stage</a:t>
                      </a:r>
                    </a:p>
                  </a:txBody>
                  <a:tcPr marL="91440" marR="91440" marT="45720" marB="45720">
                    <a:solidFill>
                      <a:srgbClr val="23485B"/>
                    </a:solidFill>
                  </a:tcPr>
                </a:tc>
                <a:tc>
                  <a:txBody>
                    <a:bodyPr/>
                    <a:lstStyle/>
                    <a:p>
                      <a:r>
                        <a:rPr sz="1725" b="1">
                          <a:solidFill>
                            <a:srgbClr val="FFFFFF"/>
                          </a:solidFill>
                          <a:latin typeface="Arial"/>
                          <a:ea typeface="Arial"/>
                          <a:cs typeface="Arial"/>
                        </a:rPr>
                        <a:t>Citizen experience</a:t>
                      </a:r>
                    </a:p>
                  </a:txBody>
                  <a:tcPr marL="91440" marR="91440" marT="45720" marB="45720">
                    <a:solidFill>
                      <a:srgbClr val="23485B"/>
                    </a:solidFill>
                  </a:tcPr>
                </a:tc>
              </a:tr>
              <a:tr h="752475">
                <a:tc>
                  <a:txBody>
                    <a:bodyPr/>
                    <a:lstStyle/>
                    <a:p>
                      <a:r>
                        <a:rPr sz="1725" b="0">
                          <a:solidFill>
                            <a:srgbClr val="172F42"/>
                          </a:solidFill>
                          <a:latin typeface="Arial"/>
                          <a:ea typeface="Arial"/>
                          <a:cs typeface="Arial"/>
                        </a:rPr>
                        <a:t>Understand</a:t>
                      </a:r>
                    </a:p>
                  </a:txBody>
                  <a:tcPr marL="91440" marR="91440" marT="45720" marB="45720">
                    <a:solidFill>
                      <a:srgbClr val="FFFFFF"/>
                    </a:solidFill>
                  </a:tcPr>
                </a:tc>
                <a:tc>
                  <a:txBody>
                    <a:bodyPr/>
                    <a:lstStyle/>
                    <a:p>
                      <a:r>
                        <a:rPr sz="1725" b="0">
                          <a:solidFill>
                            <a:srgbClr val="172F42"/>
                          </a:solidFill>
                          <a:latin typeface="Arial"/>
                          <a:ea typeface="Arial"/>
                          <a:cs typeface="Arial"/>
                        </a:rPr>
                        <a:t>Describe the issue and confirm provider, territory and complaint stage.</a:t>
                      </a:r>
                    </a:p>
                  </a:txBody>
                  <a:tcPr marL="91440" marR="91440" marT="45720" marB="45720">
                    <a:solidFill>
                      <a:srgbClr val="FFFFFF"/>
                    </a:solidFill>
                  </a:tcPr>
                </a:tc>
              </a:tr>
              <a:tr h="752475">
                <a:tc>
                  <a:txBody>
                    <a:bodyPr/>
                    <a:lstStyle/>
                    <a:p>
                      <a:r>
                        <a:rPr sz="1725" b="0">
                          <a:solidFill>
                            <a:srgbClr val="172F42"/>
                          </a:solidFill>
                          <a:latin typeface="Arial"/>
                          <a:ea typeface="Arial"/>
                          <a:cs typeface="Arial"/>
                        </a:rPr>
                        <a:t>Prepare</a:t>
                      </a:r>
                    </a:p>
                  </a:txBody>
                  <a:tcPr marL="91440" marR="91440" marT="45720" marB="45720">
                    <a:solidFill>
                      <a:srgbClr val="EAF1F4"/>
                    </a:solidFill>
                  </a:tcPr>
                </a:tc>
                <a:tc>
                  <a:txBody>
                    <a:bodyPr/>
                    <a:lstStyle/>
                    <a:p>
                      <a:r>
                        <a:rPr sz="1725" b="0">
                          <a:solidFill>
                            <a:srgbClr val="172F42"/>
                          </a:solidFill>
                          <a:latin typeface="Arial"/>
                          <a:ea typeface="Arial"/>
                          <a:cs typeface="Arial"/>
                        </a:rPr>
                        <a:t>Review sources and optional AI wording, then apply it to the petition.</a:t>
                      </a:r>
                    </a:p>
                  </a:txBody>
                  <a:tcPr marL="91440" marR="91440" marT="45720" marB="45720">
                    <a:solidFill>
                      <a:srgbClr val="EAF1F4"/>
                    </a:solidFill>
                  </a:tcPr>
                </a:tc>
              </a:tr>
              <a:tr h="752475">
                <a:tc>
                  <a:txBody>
                    <a:bodyPr/>
                    <a:lstStyle/>
                    <a:p>
                      <a:r>
                        <a:rPr sz="1725" b="0">
                          <a:solidFill>
                            <a:srgbClr val="172F42"/>
                          </a:solidFill>
                          <a:latin typeface="Arial"/>
                          <a:ea typeface="Arial"/>
                          <a:cs typeface="Arial"/>
                        </a:rPr>
                        <a:t>File</a:t>
                      </a:r>
                    </a:p>
                  </a:txBody>
                  <a:tcPr marL="91440" marR="91440" marT="45720" marB="45720">
                    <a:solidFill>
                      <a:srgbClr val="FFFFFF"/>
                    </a:solidFill>
                  </a:tcPr>
                </a:tc>
                <a:tc>
                  <a:txBody>
                    <a:bodyPr/>
                    <a:lstStyle/>
                    <a:p>
                      <a:r>
                        <a:rPr sz="1725" b="0">
                          <a:solidFill>
                            <a:srgbClr val="172F42"/>
                          </a:solidFill>
                          <a:latin typeface="Arial"/>
                          <a:ea typeface="Arial"/>
                          <a:cs typeface="Arial"/>
                        </a:rPr>
                        <a:t>Open the official portal or follow offline filing instructions.</a:t>
                      </a:r>
                    </a:p>
                  </a:txBody>
                  <a:tcPr marL="91440" marR="91440" marT="45720" marB="45720">
                    <a:solidFill>
                      <a:srgbClr val="FFFFFF"/>
                    </a:solidFill>
                  </a:tcPr>
                </a:tc>
              </a:tr>
              <a:tr h="752475">
                <a:tc>
                  <a:txBody>
                    <a:bodyPr/>
                    <a:lstStyle/>
                    <a:p>
                      <a:r>
                        <a:rPr sz="1725" b="0">
                          <a:solidFill>
                            <a:srgbClr val="172F42"/>
                          </a:solidFill>
                          <a:latin typeface="Arial"/>
                          <a:ea typeface="Arial"/>
                          <a:cs typeface="Arial"/>
                        </a:rPr>
                        <a:t>Follow up</a:t>
                      </a:r>
                    </a:p>
                  </a:txBody>
                  <a:tcPr marL="91440" marR="91440" marT="45720" marB="45720">
                    <a:solidFill>
                      <a:srgbClr val="EAF1F4"/>
                    </a:solidFill>
                  </a:tcPr>
                </a:tc>
                <a:tc>
                  <a:txBody>
                    <a:bodyPr/>
                    <a:lstStyle/>
                    <a:p>
                      <a:r>
                        <a:rPr sz="1725" b="0">
                          <a:solidFill>
                            <a:srgbClr val="172F42"/>
                          </a:solidFill>
                          <a:latin typeface="Arial"/>
                          <a:ea typeface="Arial"/>
                          <a:cs typeface="Arial"/>
                        </a:rPr>
                        <a:t>Record an acknowledgment and download a personal calendar reminder.</a:t>
                      </a:r>
                    </a:p>
                  </a:txBody>
                  <a:tcPr marL="91440" marR="91440" marT="45720" marB="45720">
                    <a:solidFill>
                      <a:srgbClr val="EAF1F4"/>
                    </a:solidFill>
                  </a:tcPr>
                </a:tc>
              </a:tr>
            </a:tbl>
          </a:graphicData>
        </a:graphic>
      </p:graphicFrame>
      <p:sp>
        <p:nvSpPr>
          <p:cNvPr id="5" name="Rectangle 4">
            <a:extLst xmlns:a="http://schemas.openxmlformats.org/drawingml/2006/main">
              <a:ext uri="{FF2B5EF4-FFF2-40B4-BE49-F238E27FC236}">
                <a16:creationId xmlns:a16="http://schemas.microsoft.com/office/drawing/2014/main" id="{A30BCB29-4DE7-403B-880C-1D99A0782756}"/>
              </a:ext>
            </a:extLst>
          </p:cNvPr>
          <p:cNvSpPr>
            <a:spLocks xmlns:a="http://schemas.openxmlformats.org/drawingml/2006/main" noGrp="1"/>
          </p:cNvSpPr>
          <p:nvPr/>
        </p:nvSpPr>
        <p:spPr>
          <a:xfrm xmlns:a="http://schemas.openxmlformats.org/drawingml/2006/main">
            <a:off x="619125" y="568642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67A79"/>
                </a:solidFill>
                <a:latin typeface="Arial"/>
                <a:ea typeface="Arial"/>
                <a:cs typeface="Arial"/>
              </a:defRPr>
            </a:pPr>
            <a:r>
              <a:rPr sz="1875" b="1">
                <a:solidFill>
                  <a:srgbClr val="167A79"/>
                </a:solidFill>
                <a:latin typeface="Arial"/>
                <a:ea typeface="Arial"/>
                <a:cs typeface="Arial"/>
              </a:rPr>
              <a:t>The citizen reviews and submits. The current app does not send complaints.</a:t>
            </a:r>
          </a:p>
        </p:txBody>
      </p:sp>
    </p:spTree>
    <p:extLst>
      <p:ext uri="{BB962C8B-B14F-4D97-AF65-F5344CB8AC3E}">
        <p14:creationId xmlns:p14="http://schemas.microsoft.com/office/powerpoint/2010/main" val="584308827"/>
      </p:ext>
    </p:extLst>
  </p:cSld>
</p:sld>
</file>

<file path=ppt/slides/slide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71436E40-27F5-44BF-9310-997F4CC58F80}"/>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Six specialist workflow modules</a:t>
            </a:r>
          </a:p>
        </p:txBody>
      </p:sp>
      <p:sp>
        <p:nvSpPr>
          <p:cNvPr id="2" name="Rectangle 1">
            <a:extLst xmlns:a="http://schemas.openxmlformats.org/drawingml/2006/main">
              <a:ext uri="{FF2B5EF4-FFF2-40B4-BE49-F238E27FC236}">
                <a16:creationId xmlns:a16="http://schemas.microsoft.com/office/drawing/2014/main" id="{97E5037F-8143-4030-87C9-73B08BCB017A}"/>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9469FF3E-EAFF-4437-9528-174C105E9E91}"/>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06</a:t>
            </a:r>
          </a:p>
        </p:txBody>
      </p:sp>
      <p:graphicFrame>
        <p:nvGraphicFramePr>
          <p:cNvPr id="11" name="Table 8"/>
          <p:cNvGraphicFramePr/>
          <p:nvPr/>
        </p:nvGraphicFramePr>
        <p:xfrm>
          <a:off xmlns:a="http://schemas.openxmlformats.org/drawingml/2006/main" x="609600" y="1524000"/>
          <a:ext xmlns:a="http://schemas.openxmlformats.org/drawingml/2006/main" cx="10972800" cy="4171951"/>
        </p:xfrm>
        <a:graphic xmlns:a="http://schemas.openxmlformats.org/drawingml/2006/main">
          <a:graphicData uri="http://schemas.openxmlformats.org/drawingml/2006/table">
            <a:tbl>
              <a:tblPr/>
              <a:tblGrid>
                <a:gridCol w="2952750"/>
                <a:gridCol w="8020050"/>
              </a:tblGrid>
              <a:tr h="595993">
                <a:tc>
                  <a:txBody>
                    <a:bodyPr/>
                    <a:lstStyle/>
                    <a:p>
                      <a:r>
                        <a:rPr sz="1725" b="1">
                          <a:solidFill>
                            <a:srgbClr val="FFFFFF"/>
                          </a:solidFill>
                          <a:latin typeface="Arial"/>
                          <a:ea typeface="Arial"/>
                          <a:cs typeface="Arial"/>
                        </a:rPr>
                        <a:t>Agent</a:t>
                      </a:r>
                    </a:p>
                  </a:txBody>
                  <a:tcPr marL="91440" marR="91440" marT="45720" marB="45720">
                    <a:solidFill>
                      <a:srgbClr val="23485B"/>
                    </a:solidFill>
                  </a:tcPr>
                </a:tc>
                <a:tc>
                  <a:txBody>
                    <a:bodyPr/>
                    <a:lstStyle/>
                    <a:p>
                      <a:r>
                        <a:rPr sz="1725" b="1">
                          <a:solidFill>
                            <a:srgbClr val="FFFFFF"/>
                          </a:solidFill>
                          <a:latin typeface="Arial"/>
                          <a:ea typeface="Arial"/>
                          <a:cs typeface="Arial"/>
                        </a:rPr>
                        <a:t>Responsibility</a:t>
                      </a:r>
                    </a:p>
                  </a:txBody>
                  <a:tcPr marL="91440" marR="91440" marT="45720" marB="45720">
                    <a:solidFill>
                      <a:srgbClr val="23485B"/>
                    </a:solidFill>
                  </a:tcPr>
                </a:tc>
              </a:tr>
              <a:tr h="595993">
                <a:tc>
                  <a:txBody>
                    <a:bodyPr/>
                    <a:lstStyle/>
                    <a:p>
                      <a:r>
                        <a:rPr sz="1725" b="0">
                          <a:solidFill>
                            <a:srgbClr val="172F42"/>
                          </a:solidFill>
                          <a:latin typeface="Arial"/>
                          <a:ea typeface="Arial"/>
                          <a:cs typeface="Arial"/>
                        </a:rPr>
                        <a:t>01  Intake and OCR</a:t>
                      </a:r>
                    </a:p>
                  </a:txBody>
                  <a:tcPr marL="91440" marR="91440" marT="45720" marB="45720">
                    <a:solidFill>
                      <a:srgbClr val="FFFFFF"/>
                    </a:solidFill>
                  </a:tcPr>
                </a:tc>
                <a:tc>
                  <a:txBody>
                    <a:bodyPr/>
                    <a:lstStyle/>
                    <a:p>
                      <a:r>
                        <a:rPr sz="1725" b="0">
                          <a:solidFill>
                            <a:srgbClr val="172F42"/>
                          </a:solidFill>
                          <a:latin typeface="Arial"/>
                          <a:ea typeface="Arial"/>
                          <a:cs typeface="Arial"/>
                        </a:rPr>
                        <a:t>Preserve the complaint and suggest details from optional documents.</a:t>
                      </a:r>
                    </a:p>
                  </a:txBody>
                  <a:tcPr marL="91440" marR="91440" marT="45720" marB="45720">
                    <a:solidFill>
                      <a:srgbClr val="FFFFFF"/>
                    </a:solidFill>
                  </a:tcPr>
                </a:tc>
              </a:tr>
              <a:tr h="595993">
                <a:tc>
                  <a:txBody>
                    <a:bodyPr/>
                    <a:lstStyle/>
                    <a:p>
                      <a:r>
                        <a:rPr sz="1725" b="0">
                          <a:solidFill>
                            <a:srgbClr val="172F42"/>
                          </a:solidFill>
                          <a:latin typeface="Arial"/>
                          <a:ea typeface="Arial"/>
                          <a:cs typeface="Arial"/>
                        </a:rPr>
                        <a:t>02  Jurisdiction RAG</a:t>
                      </a:r>
                    </a:p>
                  </a:txBody>
                  <a:tcPr marL="91440" marR="91440" marT="45720" marB="45720">
                    <a:solidFill>
                      <a:srgbClr val="EAF1F4"/>
                    </a:solidFill>
                  </a:tcPr>
                </a:tc>
                <a:tc>
                  <a:txBody>
                    <a:bodyPr/>
                    <a:lstStyle/>
                    <a:p>
                      <a:r>
                        <a:rPr sz="1725" b="0">
                          <a:solidFill>
                            <a:srgbClr val="172F42"/>
                          </a:solidFill>
                          <a:latin typeface="Arial"/>
                          <a:ea typeface="Arial"/>
                          <a:cs typeface="Arial"/>
                        </a:rPr>
                        <a:t>Retrieve scoped sources and optionally suggest a department using Groq.</a:t>
                      </a:r>
                    </a:p>
                  </a:txBody>
                  <a:tcPr marL="91440" marR="91440" marT="45720" marB="45720">
                    <a:solidFill>
                      <a:srgbClr val="EAF1F4"/>
                    </a:solidFill>
                  </a:tcPr>
                </a:tc>
              </a:tr>
              <a:tr h="595993">
                <a:tc>
                  <a:txBody>
                    <a:bodyPr/>
                    <a:lstStyle/>
                    <a:p>
                      <a:r>
                        <a:rPr sz="1725" b="0">
                          <a:solidFill>
                            <a:srgbClr val="172F42"/>
                          </a:solidFill>
                          <a:latin typeface="Arial"/>
                          <a:ea typeface="Arial"/>
                          <a:cs typeface="Arial"/>
                        </a:rPr>
                        <a:t>03  Audit Readiness</a:t>
                      </a:r>
                    </a:p>
                  </a:txBody>
                  <a:tcPr marL="91440" marR="91440" marT="45720" marB="45720">
                    <a:solidFill>
                      <a:srgbClr val="FFFFFF"/>
                    </a:solidFill>
                  </a:tcPr>
                </a:tc>
                <a:tc>
                  <a:txBody>
                    <a:bodyPr/>
                    <a:lstStyle/>
                    <a:p>
                      <a:r>
                        <a:rPr sz="1725" b="0">
                          <a:solidFill>
                            <a:srgbClr val="172F42"/>
                          </a:solidFill>
                          <a:latin typeface="Arial"/>
                          <a:ea typeface="Arial"/>
                          <a:cs typeface="Arial"/>
                        </a:rPr>
                        <a:t>Explain the evidence checklist and preparation score.</a:t>
                      </a:r>
                    </a:p>
                  </a:txBody>
                  <a:tcPr marL="91440" marR="91440" marT="45720" marB="45720">
                    <a:solidFill>
                      <a:srgbClr val="FFFFFF"/>
                    </a:solidFill>
                  </a:tcPr>
                </a:tc>
              </a:tr>
              <a:tr h="595993">
                <a:tc>
                  <a:txBody>
                    <a:bodyPr/>
                    <a:lstStyle/>
                    <a:p>
                      <a:r>
                        <a:rPr sz="1725" b="0">
                          <a:solidFill>
                            <a:srgbClr val="172F42"/>
                          </a:solidFill>
                          <a:latin typeface="Arial"/>
                          <a:ea typeface="Arial"/>
                          <a:cs typeface="Arial"/>
                        </a:rPr>
                        <a:t>04  Petition Builder</a:t>
                      </a:r>
                    </a:p>
                  </a:txBody>
                  <a:tcPr marL="91440" marR="91440" marT="45720" marB="45720">
                    <a:solidFill>
                      <a:srgbClr val="EAF1F4"/>
                    </a:solidFill>
                  </a:tcPr>
                </a:tc>
                <a:tc>
                  <a:txBody>
                    <a:bodyPr/>
                    <a:lstStyle/>
                    <a:p>
                      <a:r>
                        <a:rPr sz="1725" b="0">
                          <a:solidFill>
                            <a:srgbClr val="172F42"/>
                          </a:solidFill>
                          <a:latin typeface="Arial"/>
                          <a:ea typeface="Arial"/>
                          <a:cs typeface="Arial"/>
                        </a:rPr>
                        <a:t>Create a sourced petition with optional AI wording for user review.</a:t>
                      </a:r>
                    </a:p>
                  </a:txBody>
                  <a:tcPr marL="91440" marR="91440" marT="45720" marB="45720">
                    <a:solidFill>
                      <a:srgbClr val="EAF1F4"/>
                    </a:solidFill>
                  </a:tcPr>
                </a:tc>
              </a:tr>
              <a:tr h="595993">
                <a:tc>
                  <a:txBody>
                    <a:bodyPr/>
                    <a:lstStyle/>
                    <a:p>
                      <a:r>
                        <a:rPr sz="1725" b="0">
                          <a:solidFill>
                            <a:srgbClr val="172F42"/>
                          </a:solidFill>
                          <a:latin typeface="Arial"/>
                          <a:ea typeface="Arial"/>
                          <a:cs typeface="Arial"/>
                        </a:rPr>
                        <a:t>05  Dispatch and Router</a:t>
                      </a:r>
                    </a:p>
                  </a:txBody>
                  <a:tcPr marL="91440" marR="91440" marT="45720" marB="45720">
                    <a:solidFill>
                      <a:srgbClr val="FFFFFF"/>
                    </a:solidFill>
                  </a:tcPr>
                </a:tc>
                <a:tc>
                  <a:txBody>
                    <a:bodyPr/>
                    <a:lstStyle/>
                    <a:p>
                      <a:r>
                        <a:rPr sz="1725" b="0">
                          <a:solidFill>
                            <a:srgbClr val="172F42"/>
                          </a:solidFill>
                          <a:latin typeface="Arial"/>
                          <a:ea typeface="Arial"/>
                          <a:cs typeface="Arial"/>
                        </a:rPr>
                        <a:t>Provide official channels and offline instructions.</a:t>
                      </a:r>
                    </a:p>
                  </a:txBody>
                  <a:tcPr marL="91440" marR="91440" marT="45720" marB="45720">
                    <a:solidFill>
                      <a:srgbClr val="FFFFFF"/>
                    </a:solidFill>
                  </a:tcPr>
                </a:tc>
              </a:tr>
              <a:tr h="595993">
                <a:tc>
                  <a:txBody>
                    <a:bodyPr/>
                    <a:lstStyle/>
                    <a:p>
                      <a:r>
                        <a:rPr sz="1725" b="0">
                          <a:solidFill>
                            <a:srgbClr val="172F42"/>
                          </a:solidFill>
                          <a:latin typeface="Arial"/>
                          <a:ea typeface="Arial"/>
                          <a:cs typeface="Arial"/>
                        </a:rPr>
                        <a:t>06  Tracker and Analytics</a:t>
                      </a:r>
                    </a:p>
                  </a:txBody>
                  <a:tcPr marL="91440" marR="91440" marT="45720" marB="45720">
                    <a:solidFill>
                      <a:srgbClr val="EAF1F4"/>
                    </a:solidFill>
                  </a:tcPr>
                </a:tc>
                <a:tc>
                  <a:txBody>
                    <a:bodyPr/>
                    <a:lstStyle/>
                    <a:p>
                      <a:r>
                        <a:rPr sz="1725" b="0">
                          <a:solidFill>
                            <a:srgbClr val="172F42"/>
                          </a:solidFill>
                          <a:latin typeface="Arial"/>
                          <a:ea typeface="Arial"/>
                          <a:cs typeface="Arial"/>
                        </a:rPr>
                        <a:t>Provide reminders, filing records and consented aggregates.</a:t>
                      </a:r>
                    </a:p>
                  </a:txBody>
                  <a:tcPr marL="91440" marR="91440" marT="45720" marB="45720">
                    <a:solidFill>
                      <a:srgbClr val="EAF1F4"/>
                    </a:solidFill>
                  </a:tcPr>
                </a:tc>
              </a:tr>
            </a:tbl>
          </a:graphicData>
        </a:graphic>
      </p:graphicFrame>
      <p:sp>
        <p:nvSpPr>
          <p:cNvPr id="5" name="Rectangle 4">
            <a:extLst xmlns:a="http://schemas.openxmlformats.org/drawingml/2006/main">
              <a:ext uri="{FF2B5EF4-FFF2-40B4-BE49-F238E27FC236}">
                <a16:creationId xmlns:a16="http://schemas.microsoft.com/office/drawing/2014/main" id="{0B156A86-CFBE-4E07-A4B8-2DE04029B686}"/>
              </a:ext>
            </a:extLst>
          </p:cNvPr>
          <p:cNvSpPr>
            <a:spLocks xmlns:a="http://schemas.openxmlformats.org/drawingml/2006/main" noGrp="1"/>
          </p:cNvSpPr>
          <p:nvPr/>
        </p:nvSpPr>
        <p:spPr>
          <a:xfrm xmlns:a="http://schemas.openxmlformats.org/drawingml/2006/main">
            <a:off x="619125" y="588645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172F42"/>
                </a:solidFill>
                <a:latin typeface="Arial"/>
                <a:ea typeface="Arial"/>
                <a:cs typeface="Arial"/>
              </a:defRPr>
            </a:pPr>
            <a:r>
              <a:rPr sz="1650" b="0">
                <a:solidFill>
                  <a:srgbClr val="172F42"/>
                </a:solidFill>
                <a:latin typeface="Arial"/>
                <a:ea typeface="Arial"/>
                <a:cs typeface="Arial"/>
              </a:rPr>
              <a:t>Six Python stages with optional Groq LLM calls for suggestions and reviewed wording.</a:t>
            </a:r>
          </a:p>
        </p:txBody>
      </p:sp>
    </p:spTree>
    <p:extLst>
      <p:ext uri="{BB962C8B-B14F-4D97-AF65-F5344CB8AC3E}">
        <p14:creationId xmlns:p14="http://schemas.microsoft.com/office/powerpoint/2010/main" val="1831139090"/>
      </p:ext>
    </p:extLst>
  </p:cSld>
</p:sld>
</file>

<file path=ppt/slides/slide7.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0EF5035-F4E4-4017-98F5-C39EDAAA7CEE}"/>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3244"/>
                </a:solidFill>
                <a:latin typeface="Arial"/>
                <a:ea typeface="Arial"/>
                <a:cs typeface="Arial"/>
              </a:defRPr>
            </a:pPr>
            <a:r>
              <a:rPr sz="3300" b="1">
                <a:solidFill>
                  <a:srgbClr val="193244"/>
                </a:solidFill>
                <a:latin typeface="Arial"/>
                <a:ea typeface="Arial"/>
                <a:cs typeface="Arial"/>
              </a:rPr>
              <a:t>Groq AI assistance</a:t>
            </a:r>
          </a:p>
        </p:txBody>
      </p:sp>
      <p:sp>
        <p:nvSpPr>
          <p:cNvPr id="2" name="">
            <a:extLst xmlns:a="http://schemas.openxmlformats.org/drawingml/2006/main">
              <a:ext uri="{FF2B5EF4-FFF2-40B4-BE49-F238E27FC236}">
                <a16:creationId xmlns:a16="http://schemas.microsoft.com/office/drawing/2014/main" id="{328E1313-D777-4796-A802-FD3438D6F7D0}"/>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8CDC9C9C-70CB-4B48-9DB9-2BF0B2142890}"/>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Optional model calls help interpret complaints and improve petition wording.</a:t>
            </a:r>
          </a:p>
        </p:txBody>
      </p:sp>
      <p:sp>
        <p:nvSpPr>
          <p:cNvPr id="4" name="">
            <a:extLst xmlns:a="http://schemas.openxmlformats.org/drawingml/2006/main">
              <a:ext uri="{FF2B5EF4-FFF2-40B4-BE49-F238E27FC236}">
                <a16:creationId xmlns:a16="http://schemas.microsoft.com/office/drawing/2014/main" id="{153D25AD-C540-4B6E-A474-AFA15E5A7CCC}"/>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FD764423-E4F2-476D-A121-8B3234842493}"/>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Default model: openai/gpt-oss-120b, served through Groq.</a:t>
            </a:r>
          </a:p>
        </p:txBody>
      </p:sp>
      <p:sp>
        <p:nvSpPr>
          <p:cNvPr id="6" name="">
            <a:extLst xmlns:a="http://schemas.openxmlformats.org/drawingml/2006/main">
              <a:ext uri="{FF2B5EF4-FFF2-40B4-BE49-F238E27FC236}">
                <a16:creationId xmlns:a16="http://schemas.microsoft.com/office/drawing/2014/main" id="{D58F069E-1096-4C8C-8308-DCE8B02CE6E8}"/>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04634FF4-6A0D-441A-9CF4-95B781E91A1B}"/>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The app validates department IDs against its catalogue and selected territory.</a:t>
            </a:r>
          </a:p>
        </p:txBody>
      </p:sp>
      <p:sp>
        <p:nvSpPr>
          <p:cNvPr id="8" name="">
            <a:extLst xmlns:a="http://schemas.openxmlformats.org/drawingml/2006/main">
              <a:ext uri="{FF2B5EF4-FFF2-40B4-BE49-F238E27FC236}">
                <a16:creationId xmlns:a16="http://schemas.microsoft.com/office/drawing/2014/main" id="{D08C568B-C522-4D31-8253-F6FE0C86417E}"/>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0696AEA1-1249-48A1-83EB-A83F587A6EB2}"/>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Rules and manual selection remain available when AI cannot respond.</a:t>
            </a:r>
          </a:p>
        </p:txBody>
      </p:sp>
      <p:sp>
        <p:nvSpPr>
          <p:cNvPr id="10" name="">
            <a:extLst xmlns:a="http://schemas.openxmlformats.org/drawingml/2006/main">
              <a:ext uri="{FF2B5EF4-FFF2-40B4-BE49-F238E27FC236}">
                <a16:creationId xmlns:a16="http://schemas.microsoft.com/office/drawing/2014/main" id="{934DBE65-A2FE-4412-BCAB-40318BB1E330}"/>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48677B"/>
                </a:solidFill>
                <a:latin typeface="Arial"/>
                <a:ea typeface="Arial"/>
                <a:cs typeface="Arial"/>
              </a:defRPr>
            </a:pPr>
            <a:r>
              <a:rPr sz="1200" b="0">
                <a:solidFill>
                  <a:srgbClr val="48677B"/>
                </a:solidFill>
                <a:latin typeface="Arial"/>
                <a:ea typeface="Arial"/>
                <a:cs typeface="Arial"/>
              </a:rPr>
              <a:t>Civic Access  •  5 October 2026</a:t>
            </a:r>
          </a:p>
        </p:txBody>
      </p:sp>
      <p:sp>
        <p:nvSpPr>
          <p:cNvPr id="11" name="">
            <a:extLst xmlns:a="http://schemas.openxmlformats.org/drawingml/2006/main">
              <a:ext uri="{FF2B5EF4-FFF2-40B4-BE49-F238E27FC236}">
                <a16:creationId xmlns:a16="http://schemas.microsoft.com/office/drawing/2014/main" id="{CA272FDB-6F2B-40F0-B4B8-B93E47300916}"/>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48677B"/>
                </a:solidFill>
                <a:latin typeface="Arial"/>
                <a:ea typeface="Arial"/>
                <a:cs typeface="Arial"/>
              </a:defRPr>
            </a:pPr>
            <a:r>
              <a:rPr sz="1350" b="0">
                <a:solidFill>
                  <a:srgbClr val="48677B"/>
                </a:solidFill>
                <a:latin typeface="Arial"/>
                <a:ea typeface="Arial"/>
                <a:cs typeface="Arial"/>
              </a:rPr>
              <a:t>07</a:t>
            </a:r>
          </a:p>
        </p:txBody>
      </p:sp>
    </p:spTree>
    <p:extLst>
      <p:ext uri="{BB962C8B-B14F-4D97-AF65-F5344CB8AC3E}">
        <p14:creationId xmlns:p14="http://schemas.microsoft.com/office/powerpoint/2010/main" val="46633655"/>
      </p:ext>
    </p:extLst>
  </p:cSld>
</p:sld>
</file>

<file path=ppt/slides/slide8.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A0E05C4-7312-490F-8D0B-7E22AF38A6B0}"/>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3244"/>
                </a:solidFill>
                <a:latin typeface="Arial"/>
                <a:ea typeface="Arial"/>
                <a:cs typeface="Arial"/>
              </a:defRPr>
            </a:pPr>
            <a:r>
              <a:rPr sz="3300" b="1">
                <a:solidFill>
                  <a:srgbClr val="193244"/>
                </a:solidFill>
                <a:latin typeface="Arial"/>
                <a:ea typeface="Arial"/>
                <a:cs typeface="Arial"/>
              </a:rPr>
              <a:t>AI review and data sharing</a:t>
            </a:r>
          </a:p>
        </p:txBody>
      </p:sp>
      <p:sp>
        <p:nvSpPr>
          <p:cNvPr id="2" name="">
            <a:extLst xmlns:a="http://schemas.openxmlformats.org/drawingml/2006/main">
              <a:ext uri="{FF2B5EF4-FFF2-40B4-BE49-F238E27FC236}">
                <a16:creationId xmlns:a16="http://schemas.microsoft.com/office/drawing/2014/main" id="{D5E0150A-0D5F-4051-8465-289617E6E0D1}"/>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B4575F58-F362-4386-9D89-E810F5881A16}"/>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Citizens opt in before the app sends complaint text to Groq.</a:t>
            </a:r>
          </a:p>
        </p:txBody>
      </p:sp>
      <p:sp>
        <p:nvSpPr>
          <p:cNvPr id="4" name="">
            <a:extLst xmlns:a="http://schemas.openxmlformats.org/drawingml/2006/main">
              <a:ext uri="{FF2B5EF4-FFF2-40B4-BE49-F238E27FC236}">
                <a16:creationId xmlns:a16="http://schemas.microsoft.com/office/drawing/2014/main" id="{043D4303-97DF-4BED-8251-314EE28121A3}"/>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45765B10-194B-47BD-8BD1-01A6A3BBDC3E}"/>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Separate identity fields and uploads stay out of AI requests. Free text may still identify people.</a:t>
            </a:r>
          </a:p>
        </p:txBody>
      </p:sp>
      <p:sp>
        <p:nvSpPr>
          <p:cNvPr id="6" name="">
            <a:extLst xmlns:a="http://schemas.openxmlformats.org/drawingml/2006/main">
              <a:ext uri="{FF2B5EF4-FFF2-40B4-BE49-F238E27FC236}">
                <a16:creationId xmlns:a16="http://schemas.microsoft.com/office/drawing/2014/main" id="{3CA24E62-AB82-4271-9204-3A3429592036}"/>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EF413B1A-9AF4-4DFF-B4A9-FD994F86C5E8}"/>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AI wording changes the petition only after the citizen reviews and applies it.</a:t>
            </a:r>
          </a:p>
        </p:txBody>
      </p:sp>
      <p:sp>
        <p:nvSpPr>
          <p:cNvPr id="8" name="">
            <a:extLst xmlns:a="http://schemas.openxmlformats.org/drawingml/2006/main">
              <a:ext uri="{FF2B5EF4-FFF2-40B4-BE49-F238E27FC236}">
                <a16:creationId xmlns:a16="http://schemas.microsoft.com/office/drawing/2014/main" id="{A577AA28-D782-45BD-B8B7-A15304817EEE}"/>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7478AEFF-A404-4758-A285-38A4AFCE6F5F}"/>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The app supplies legal references separately. AI does not certify law or submit complaints.</a:t>
            </a:r>
          </a:p>
        </p:txBody>
      </p:sp>
      <p:sp>
        <p:nvSpPr>
          <p:cNvPr id="10" name="">
            <a:extLst xmlns:a="http://schemas.openxmlformats.org/drawingml/2006/main">
              <a:ext uri="{FF2B5EF4-FFF2-40B4-BE49-F238E27FC236}">
                <a16:creationId xmlns:a16="http://schemas.microsoft.com/office/drawing/2014/main" id="{64DB54E0-DBF1-43CD-81C5-823A74FA3B63}"/>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48677B"/>
                </a:solidFill>
                <a:latin typeface="Arial"/>
                <a:ea typeface="Arial"/>
                <a:cs typeface="Arial"/>
              </a:defRPr>
            </a:pPr>
            <a:r>
              <a:rPr sz="1200" b="0">
                <a:solidFill>
                  <a:srgbClr val="48677B"/>
                </a:solidFill>
                <a:latin typeface="Arial"/>
                <a:ea typeface="Arial"/>
                <a:cs typeface="Arial"/>
              </a:rPr>
              <a:t>Civic Access  •  5 October 2026</a:t>
            </a:r>
          </a:p>
        </p:txBody>
      </p:sp>
      <p:sp>
        <p:nvSpPr>
          <p:cNvPr id="11" name="">
            <a:extLst xmlns:a="http://schemas.openxmlformats.org/drawingml/2006/main">
              <a:ext uri="{FF2B5EF4-FFF2-40B4-BE49-F238E27FC236}">
                <a16:creationId xmlns:a16="http://schemas.microsoft.com/office/drawing/2014/main" id="{DF4EAFAA-4E2D-4D03-891D-27AD413B8232}"/>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48677B"/>
                </a:solidFill>
                <a:latin typeface="Arial"/>
                <a:ea typeface="Arial"/>
                <a:cs typeface="Arial"/>
              </a:defRPr>
            </a:pPr>
            <a:r>
              <a:rPr sz="1350" b="0">
                <a:solidFill>
                  <a:srgbClr val="48677B"/>
                </a:solidFill>
                <a:latin typeface="Arial"/>
                <a:ea typeface="Arial"/>
                <a:cs typeface="Arial"/>
              </a:rPr>
              <a:t>08</a:t>
            </a:r>
          </a:p>
        </p:txBody>
      </p:sp>
    </p:spTree>
    <p:extLst>
      <p:ext uri="{BB962C8B-B14F-4D97-AF65-F5344CB8AC3E}">
        <p14:creationId xmlns:p14="http://schemas.microsoft.com/office/powerpoint/2010/main" val="175123248"/>
      </p:ext>
    </p:extLst>
  </p:cSld>
</p:sld>
</file>

<file path=ppt/slides/slide9.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1B6C6F73-0574-4DED-90A5-A2CA9FEBED86}"/>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Service coverage</a:t>
            </a:r>
          </a:p>
        </p:txBody>
      </p:sp>
      <p:sp>
        <p:nvSpPr>
          <p:cNvPr id="2" name="Rectangle 1">
            <a:extLst xmlns:a="http://schemas.openxmlformats.org/drawingml/2006/main">
              <a:ext uri="{FF2B5EF4-FFF2-40B4-BE49-F238E27FC236}">
                <a16:creationId xmlns:a16="http://schemas.microsoft.com/office/drawing/2014/main" id="{BC9D0F7E-8CC1-4DD0-8B1D-8F4284276284}"/>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AB94A6F9-35EE-444A-B759-A2EFB29E7349}"/>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09</a:t>
            </a:r>
          </a:p>
        </p:txBody>
      </p:sp>
      <p:graphicFrame>
        <p:nvGraphicFramePr>
          <p:cNvPr id="12" name="Table 9"/>
          <p:cNvGraphicFramePr/>
          <p:nvPr/>
        </p:nvGraphicFramePr>
        <p:xfrm>
          <a:off xmlns:a="http://schemas.openxmlformats.org/drawingml/2006/main" x="609600" y="1714500"/>
          <a:ext xmlns:a="http://schemas.openxmlformats.org/drawingml/2006/main" cx="10972800" cy="3333750"/>
        </p:xfrm>
        <a:graphic xmlns:a="http://schemas.openxmlformats.org/drawingml/2006/main">
          <a:graphicData uri="http://schemas.openxmlformats.org/drawingml/2006/table">
            <a:tbl>
              <a:tblPr/>
              <a:tblGrid>
                <a:gridCol w="2333625"/>
                <a:gridCol w="8639175"/>
              </a:tblGrid>
              <a:tr h="666750">
                <a:tc>
                  <a:txBody>
                    <a:bodyPr/>
                    <a:lstStyle/>
                    <a:p>
                      <a:r>
                        <a:rPr sz="1725" b="1">
                          <a:solidFill>
                            <a:srgbClr val="FFFFFF"/>
                          </a:solidFill>
                          <a:latin typeface="Arial"/>
                          <a:ea typeface="Arial"/>
                          <a:cs typeface="Arial"/>
                        </a:rPr>
                        <a:t>Sector</a:t>
                      </a:r>
                    </a:p>
                  </a:txBody>
                  <a:tcPr marL="91440" marR="91440" marT="45720" marB="45720">
                    <a:solidFill>
                      <a:srgbClr val="23485B"/>
                    </a:solidFill>
                  </a:tcPr>
                </a:tc>
                <a:tc>
                  <a:txBody>
                    <a:bodyPr/>
                    <a:lstStyle/>
                    <a:p>
                      <a:r>
                        <a:rPr sz="1725" b="1">
                          <a:solidFill>
                            <a:srgbClr val="FFFFFF"/>
                          </a:solidFill>
                          <a:latin typeface="Arial"/>
                          <a:ea typeface="Arial"/>
                          <a:cs typeface="Arial"/>
                        </a:rPr>
                        <a:t>Coverage</a:t>
                      </a:r>
                    </a:p>
                  </a:txBody>
                  <a:tcPr marL="91440" marR="91440" marT="45720" marB="45720">
                    <a:solidFill>
                      <a:srgbClr val="23485B"/>
                    </a:solidFill>
                  </a:tcPr>
                </a:tc>
              </a:tr>
              <a:tr h="666750">
                <a:tc>
                  <a:txBody>
                    <a:bodyPr/>
                    <a:lstStyle/>
                    <a:p>
                      <a:r>
                        <a:rPr sz="1725" b="0">
                          <a:solidFill>
                            <a:srgbClr val="172F42"/>
                          </a:solidFill>
                          <a:latin typeface="Arial"/>
                          <a:ea typeface="Arial"/>
                          <a:cs typeface="Arial"/>
                        </a:rPr>
                        <a:t>Electricity</a:t>
                      </a:r>
                    </a:p>
                  </a:txBody>
                  <a:tcPr marL="91440" marR="91440" marT="45720" marB="45720">
                    <a:solidFill>
                      <a:srgbClr val="FFFFFF"/>
                    </a:solidFill>
                  </a:tcPr>
                </a:tc>
                <a:tc>
                  <a:txBody>
                    <a:bodyPr/>
                    <a:lstStyle/>
                    <a:p>
                      <a:r>
                        <a:rPr sz="1725" b="0">
                          <a:solidFill>
                            <a:srgbClr val="172F42"/>
                          </a:solidFill>
                          <a:latin typeface="Arial"/>
                          <a:ea typeface="Arial"/>
                          <a:cs typeface="Arial"/>
                        </a:rPr>
                        <a:t>11 public DISCOs, K-Electric and NEPRA</a:t>
                      </a:r>
                    </a:p>
                  </a:txBody>
                  <a:tcPr marL="91440" marR="91440" marT="45720" marB="45720">
                    <a:solidFill>
                      <a:srgbClr val="FFFFFF"/>
                    </a:solidFill>
                  </a:tcPr>
                </a:tc>
              </a:tr>
              <a:tr h="666750">
                <a:tc>
                  <a:txBody>
                    <a:bodyPr/>
                    <a:lstStyle/>
                    <a:p>
                      <a:r>
                        <a:rPr sz="1725" b="0">
                          <a:solidFill>
                            <a:srgbClr val="172F42"/>
                          </a:solidFill>
                          <a:latin typeface="Arial"/>
                          <a:ea typeface="Arial"/>
                          <a:cs typeface="Arial"/>
                        </a:rPr>
                        <a:t>Telecom</a:t>
                      </a:r>
                    </a:p>
                  </a:txBody>
                  <a:tcPr marL="91440" marR="91440" marT="45720" marB="45720">
                    <a:solidFill>
                      <a:srgbClr val="EAF1F4"/>
                    </a:solidFill>
                  </a:tcPr>
                </a:tc>
                <a:tc>
                  <a:txBody>
                    <a:bodyPr/>
                    <a:lstStyle/>
                    <a:p>
                      <a:r>
                        <a:rPr sz="1725" b="0">
                          <a:solidFill>
                            <a:srgbClr val="172F42"/>
                          </a:solidFill>
                          <a:latin typeface="Arial"/>
                          <a:ea typeface="Arial"/>
                          <a:cs typeface="Arial"/>
                        </a:rPr>
                        <a:t>Jazz, Zong, Ufone, Telenor, Onic, PTCL, SCOM/SCO and PTA</a:t>
                      </a:r>
                    </a:p>
                  </a:txBody>
                  <a:tcPr marL="91440" marR="91440" marT="45720" marB="45720">
                    <a:solidFill>
                      <a:srgbClr val="EAF1F4"/>
                    </a:solidFill>
                  </a:tcPr>
                </a:tc>
              </a:tr>
              <a:tr h="666750">
                <a:tc>
                  <a:txBody>
                    <a:bodyPr/>
                    <a:lstStyle/>
                    <a:p>
                      <a:r>
                        <a:rPr sz="1725" b="0">
                          <a:solidFill>
                            <a:srgbClr val="172F42"/>
                          </a:solidFill>
                          <a:latin typeface="Arial"/>
                          <a:ea typeface="Arial"/>
                          <a:cs typeface="Arial"/>
                        </a:rPr>
                        <a:t>Banking</a:t>
                      </a:r>
                    </a:p>
                  </a:txBody>
                  <a:tcPr marL="91440" marR="91440" marT="45720" marB="45720">
                    <a:solidFill>
                      <a:srgbClr val="FFFFFF"/>
                    </a:solidFill>
                  </a:tcPr>
                </a:tc>
                <a:tc>
                  <a:txBody>
                    <a:bodyPr/>
                    <a:lstStyle/>
                    <a:p>
                      <a:r>
                        <a:rPr sz="1725" b="0">
                          <a:solidFill>
                            <a:srgbClr val="172F42"/>
                          </a:solidFill>
                          <a:latin typeface="Arial"/>
                          <a:ea typeface="Arial"/>
                          <a:cs typeface="Arial"/>
                        </a:rPr>
                        <a:t>Banking Mohtasib Pakistan and State Bank; institution-first Sunwai guidance</a:t>
                      </a:r>
                    </a:p>
                  </a:txBody>
                  <a:tcPr marL="91440" marR="91440" marT="45720" marB="45720">
                    <a:solidFill>
                      <a:srgbClr val="FFFFFF"/>
                    </a:solidFill>
                  </a:tcPr>
                </a:tc>
              </a:tr>
              <a:tr h="666750">
                <a:tc>
                  <a:txBody>
                    <a:bodyPr/>
                    <a:lstStyle/>
                    <a:p>
                      <a:r>
                        <a:rPr sz="1725" b="0">
                          <a:solidFill>
                            <a:srgbClr val="172F42"/>
                          </a:solidFill>
                          <a:latin typeface="Arial"/>
                          <a:ea typeface="Arial"/>
                          <a:cs typeface="Arial"/>
                        </a:rPr>
                        <a:t>Other institutions</a:t>
                      </a:r>
                    </a:p>
                  </a:txBody>
                  <a:tcPr marL="91440" marR="91440" marT="45720" marB="45720">
                    <a:solidFill>
                      <a:srgbClr val="EAF1F4"/>
                    </a:solidFill>
                  </a:tcPr>
                </a:tc>
                <a:tc>
                  <a:txBody>
                    <a:bodyPr/>
                    <a:lstStyle/>
                    <a:p>
                      <a:r>
                        <a:rPr sz="1725" b="0">
                          <a:solidFill>
                            <a:srgbClr val="172F42"/>
                          </a:solidFill>
                          <a:latin typeface="Arial"/>
                          <a:ea typeface="Arial"/>
                          <a:cs typeface="Arial"/>
                        </a:rPr>
                        <a:t>PEMRA, gas utilities, OGRA, federal and provincial service bodies</a:t>
                      </a:r>
                    </a:p>
                  </a:txBody>
                  <a:tcPr marL="91440" marR="91440" marT="45720" marB="45720">
                    <a:solidFill>
                      <a:srgbClr val="EAF1F4"/>
                    </a:solidFill>
                  </a:tcPr>
                </a:tc>
              </a:tr>
            </a:tbl>
          </a:graphicData>
        </a:graphic>
      </p:graphicFrame>
      <p:sp>
        <p:nvSpPr>
          <p:cNvPr id="5" name="Rectangle 4">
            <a:extLst xmlns:a="http://schemas.openxmlformats.org/drawingml/2006/main">
              <a:ext uri="{FF2B5EF4-FFF2-40B4-BE49-F238E27FC236}">
                <a16:creationId xmlns:a16="http://schemas.microsoft.com/office/drawing/2014/main" id="{0C1497A4-5B46-43D4-A47E-1557DE73660B}"/>
              </a:ext>
            </a:extLst>
          </p:cNvPr>
          <p:cNvSpPr>
            <a:spLocks xmlns:a="http://schemas.openxmlformats.org/drawingml/2006/main" noGrp="1"/>
          </p:cNvSpPr>
          <p:nvPr/>
        </p:nvSpPr>
        <p:spPr>
          <a:xfrm xmlns:a="http://schemas.openxmlformats.org/drawingml/2006/main">
            <a:off x="619125" y="53721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67A79"/>
                </a:solidFill>
                <a:latin typeface="Arial"/>
                <a:ea typeface="Arial"/>
                <a:cs typeface="Arial"/>
              </a:defRPr>
            </a:pPr>
            <a:r>
              <a:rPr sz="2175" b="1">
                <a:solidFill>
                  <a:srgbClr val="167A79"/>
                </a:solidFill>
                <a:latin typeface="Arial"/>
                <a:ea typeface="Arial"/>
                <a:cs typeface="Arial"/>
              </a:rPr>
              <a:t>95 directory entries, 95 guidance profiles and 314 source summaries</a:t>
            </a:r>
          </a:p>
        </p:txBody>
      </p:sp>
      <p:sp>
        <p:nvSpPr>
          <p:cNvPr id="6" name="Rectangle 5">
            <a:extLst xmlns:a="http://schemas.openxmlformats.org/drawingml/2006/main">
              <a:ext uri="{FF2B5EF4-FFF2-40B4-BE49-F238E27FC236}">
                <a16:creationId xmlns:a16="http://schemas.microsoft.com/office/drawing/2014/main" id="{3236F15B-1DDF-4684-A06B-10EE7224AEAE}"/>
              </a:ext>
            </a:extLst>
          </p:cNvPr>
          <p:cNvSpPr>
            <a:spLocks xmlns:a="http://schemas.openxmlformats.org/drawingml/2006/main" noGrp="1"/>
          </p:cNvSpPr>
          <p:nvPr/>
        </p:nvSpPr>
        <p:spPr>
          <a:xfrm xmlns:a="http://schemas.openxmlformats.org/drawingml/2006/main">
            <a:off x="619125" y="590550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172F42"/>
                </a:solidFill>
                <a:latin typeface="Arial"/>
                <a:ea typeface="Arial"/>
                <a:cs typeface="Arial"/>
              </a:defRPr>
            </a:pPr>
            <a:r>
              <a:rPr sz="1575" b="0">
                <a:solidFill>
                  <a:srgbClr val="172F42"/>
                </a:solidFill>
                <a:latin typeface="Arial"/>
                <a:ea typeface="Arial"/>
                <a:cs typeface="Arial"/>
              </a:rPr>
              <a:t>Research depth varies; these counts do not mean every legal filing route is fully verified.</a:t>
            </a:r>
          </a:p>
        </p:txBody>
      </p:sp>
    </p:spTree>
    <p:extLst>
      <p:ext uri="{BB962C8B-B14F-4D97-AF65-F5344CB8AC3E}">
        <p14:creationId xmlns:p14="http://schemas.microsoft.com/office/powerpoint/2010/main" val="1770896204"/>
      </p:ext>
    </p:extLst>
  </p:cSld>
</p:sld>
</file>

<file path=ppt/slides/slide10.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32445336-9AFD-41AE-8F80-E7FE39182379}"/>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The provider comes first</a:t>
            </a:r>
          </a:p>
        </p:txBody>
      </p:sp>
      <p:sp>
        <p:nvSpPr>
          <p:cNvPr id="2" name="Rectangle 1">
            <a:extLst xmlns:a="http://schemas.openxmlformats.org/drawingml/2006/main">
              <a:ext uri="{FF2B5EF4-FFF2-40B4-BE49-F238E27FC236}">
                <a16:creationId xmlns:a16="http://schemas.microsoft.com/office/drawing/2014/main" id="{252983A9-38D9-4E1F-A8B1-D916E95FA8B7}"/>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58EA7926-F2C7-4AF3-88CB-992EA7DA0C90}"/>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10</a:t>
            </a:r>
          </a:p>
        </p:txBody>
      </p:sp>
      <p:graphicFrame>
        <p:nvGraphicFramePr>
          <p:cNvPr id="11" name="Table 8"/>
          <p:cNvGraphicFramePr/>
          <p:nvPr/>
        </p:nvGraphicFramePr>
        <p:xfrm>
          <a:off xmlns:a="http://schemas.openxmlformats.org/drawingml/2006/main" x="609600" y="1857375"/>
          <a:ext xmlns:a="http://schemas.openxmlformats.org/drawingml/2006/main" cx="10972800" cy="3143252"/>
        </p:xfrm>
        <a:graphic xmlns:a="http://schemas.openxmlformats.org/drawingml/2006/main">
          <a:graphicData uri="http://schemas.openxmlformats.org/drawingml/2006/table">
            <a:tbl>
              <a:tblPr/>
              <a:tblGrid>
                <a:gridCol w="2238375"/>
                <a:gridCol w="3781425"/>
                <a:gridCol w="4953000"/>
              </a:tblGrid>
              <a:tr h="785813">
                <a:tc>
                  <a:txBody>
                    <a:bodyPr/>
                    <a:lstStyle/>
                    <a:p>
                      <a:r>
                        <a:rPr sz="1725" b="1">
                          <a:solidFill>
                            <a:srgbClr val="FFFFFF"/>
                          </a:solidFill>
                          <a:latin typeface="Arial"/>
                          <a:ea typeface="Arial"/>
                          <a:cs typeface="Arial"/>
                        </a:rPr>
                        <a:t>Issue</a:t>
                      </a:r>
                    </a:p>
                  </a:txBody>
                  <a:tcPr marL="91440" marR="91440" marT="45720" marB="45720">
                    <a:solidFill>
                      <a:srgbClr val="23485B"/>
                    </a:solidFill>
                  </a:tcPr>
                </a:tc>
                <a:tc>
                  <a:txBody>
                    <a:bodyPr/>
                    <a:lstStyle/>
                    <a:p>
                      <a:r>
                        <a:rPr sz="1725" b="1">
                          <a:solidFill>
                            <a:srgbClr val="FFFFFF"/>
                          </a:solidFill>
                          <a:latin typeface="Arial"/>
                          <a:ea typeface="Arial"/>
                          <a:cs typeface="Arial"/>
                        </a:rPr>
                        <a:t>First step</a:t>
                      </a:r>
                    </a:p>
                  </a:txBody>
                  <a:tcPr marL="91440" marR="91440" marT="45720" marB="45720">
                    <a:solidFill>
                      <a:srgbClr val="23485B"/>
                    </a:solidFill>
                  </a:tcPr>
                </a:tc>
                <a:tc>
                  <a:txBody>
                    <a:bodyPr/>
                    <a:lstStyle/>
                    <a:p>
                      <a:r>
                        <a:rPr sz="1725" b="1">
                          <a:solidFill>
                            <a:srgbClr val="FFFFFF"/>
                          </a:solidFill>
                          <a:latin typeface="Arial"/>
                          <a:ea typeface="Arial"/>
                          <a:cs typeface="Arial"/>
                        </a:rPr>
                        <a:t>Possible next forum</a:t>
                      </a:r>
                    </a:p>
                  </a:txBody>
                  <a:tcPr marL="91440" marR="91440" marT="45720" marB="45720">
                    <a:solidFill>
                      <a:srgbClr val="23485B"/>
                    </a:solidFill>
                  </a:tcPr>
                </a:tc>
              </a:tr>
              <a:tr h="785813">
                <a:tc>
                  <a:txBody>
                    <a:bodyPr/>
                    <a:lstStyle/>
                    <a:p>
                      <a:r>
                        <a:rPr sz="1725" b="0">
                          <a:solidFill>
                            <a:srgbClr val="172F42"/>
                          </a:solidFill>
                          <a:latin typeface="Arial"/>
                          <a:ea typeface="Arial"/>
                          <a:cs typeface="Arial"/>
                        </a:rPr>
                        <a:t>Telecom service</a:t>
                      </a:r>
                    </a:p>
                  </a:txBody>
                  <a:tcPr marL="91440" marR="91440" marT="45720" marB="45720">
                    <a:solidFill>
                      <a:srgbClr val="FFFFFF"/>
                    </a:solidFill>
                  </a:tcPr>
                </a:tc>
                <a:tc>
                  <a:txBody>
                    <a:bodyPr/>
                    <a:lstStyle/>
                    <a:p>
                      <a:r>
                        <a:rPr sz="1725" b="0">
                          <a:solidFill>
                            <a:srgbClr val="172F42"/>
                          </a:solidFill>
                          <a:latin typeface="Arial"/>
                          <a:ea typeface="Arial"/>
                          <a:cs typeface="Arial"/>
                        </a:rPr>
                        <a:t>Complain to the actual operator</a:t>
                      </a:r>
                    </a:p>
                  </a:txBody>
                  <a:tcPr marL="91440" marR="91440" marT="45720" marB="45720">
                    <a:solidFill>
                      <a:srgbClr val="FFFFFF"/>
                    </a:solidFill>
                  </a:tcPr>
                </a:tc>
                <a:tc>
                  <a:txBody>
                    <a:bodyPr/>
                    <a:lstStyle/>
                    <a:p>
                      <a:r>
                        <a:rPr sz="1725" b="0">
                          <a:solidFill>
                            <a:srgbClr val="172F42"/>
                          </a:solidFill>
                          <a:latin typeface="Arial"/>
                          <a:ea typeface="Arial"/>
                          <a:cs typeface="Arial"/>
                        </a:rPr>
                        <a:t>PTA, subject to eligibility and earlier records</a:t>
                      </a:r>
                    </a:p>
                  </a:txBody>
                  <a:tcPr marL="91440" marR="91440" marT="45720" marB="45720">
                    <a:solidFill>
                      <a:srgbClr val="FFFFFF"/>
                    </a:solidFill>
                  </a:tcPr>
                </a:tc>
              </a:tr>
              <a:tr h="785813">
                <a:tc>
                  <a:txBody>
                    <a:bodyPr/>
                    <a:lstStyle/>
                    <a:p>
                      <a:r>
                        <a:rPr sz="1725" b="0">
                          <a:solidFill>
                            <a:srgbClr val="172F42"/>
                          </a:solidFill>
                          <a:latin typeface="Arial"/>
                          <a:ea typeface="Arial"/>
                          <a:cs typeface="Arial"/>
                        </a:rPr>
                        <a:t>Electricity bill</a:t>
                      </a:r>
                    </a:p>
                  </a:txBody>
                  <a:tcPr marL="91440" marR="91440" marT="45720" marB="45720">
                    <a:solidFill>
                      <a:srgbClr val="EAF1F4"/>
                    </a:solidFill>
                  </a:tcPr>
                </a:tc>
                <a:tc>
                  <a:txBody>
                    <a:bodyPr/>
                    <a:lstStyle/>
                    <a:p>
                      <a:r>
                        <a:rPr sz="1725" b="0">
                          <a:solidFill>
                            <a:srgbClr val="172F42"/>
                          </a:solidFill>
                          <a:latin typeface="Arial"/>
                          <a:ea typeface="Arial"/>
                          <a:cs typeface="Arial"/>
                        </a:rPr>
                        <a:t>Complain to the supplier on the bill</a:t>
                      </a:r>
                    </a:p>
                  </a:txBody>
                  <a:tcPr marL="91440" marR="91440" marT="45720" marB="45720">
                    <a:solidFill>
                      <a:srgbClr val="EAF1F4"/>
                    </a:solidFill>
                  </a:tcPr>
                </a:tc>
                <a:tc>
                  <a:txBody>
                    <a:bodyPr/>
                    <a:lstStyle/>
                    <a:p>
                      <a:r>
                        <a:rPr sz="1725" b="0">
                          <a:solidFill>
                            <a:srgbClr val="172F42"/>
                          </a:solidFill>
                          <a:latin typeface="Arial"/>
                          <a:ea typeface="Arial"/>
                          <a:cs typeface="Arial"/>
                        </a:rPr>
                        <a:t>NEPRA, where the procedure applies</a:t>
                      </a:r>
                    </a:p>
                  </a:txBody>
                  <a:tcPr marL="91440" marR="91440" marT="45720" marB="45720">
                    <a:solidFill>
                      <a:srgbClr val="EAF1F4"/>
                    </a:solidFill>
                  </a:tcPr>
                </a:tc>
              </a:tr>
              <a:tr h="785813">
                <a:tc>
                  <a:txBody>
                    <a:bodyPr/>
                    <a:lstStyle/>
                    <a:p>
                      <a:r>
                        <a:rPr sz="1725" b="0">
                          <a:solidFill>
                            <a:srgbClr val="172F42"/>
                          </a:solidFill>
                          <a:latin typeface="Arial"/>
                          <a:ea typeface="Arial"/>
                          <a:cs typeface="Arial"/>
                        </a:rPr>
                        <a:t>Banking service</a:t>
                      </a:r>
                    </a:p>
                  </a:txBody>
                  <a:tcPr marL="91440" marR="91440" marT="45720" marB="45720">
                    <a:solidFill>
                      <a:srgbClr val="FFFFFF"/>
                    </a:solidFill>
                  </a:tcPr>
                </a:tc>
                <a:tc>
                  <a:txBody>
                    <a:bodyPr/>
                    <a:lstStyle/>
                    <a:p>
                      <a:r>
                        <a:rPr sz="1725" b="0">
                          <a:solidFill>
                            <a:srgbClr val="172F42"/>
                          </a:solidFill>
                          <a:latin typeface="Arial"/>
                          <a:ea typeface="Arial"/>
                          <a:cs typeface="Arial"/>
                        </a:rPr>
                        <a:t>Complain to the financial institution</a:t>
                      </a:r>
                    </a:p>
                  </a:txBody>
                  <a:tcPr marL="91440" marR="91440" marT="45720" marB="45720">
                    <a:solidFill>
                      <a:srgbClr val="FFFFFF"/>
                    </a:solidFill>
                  </a:tcPr>
                </a:tc>
                <a:tc>
                  <a:txBody>
                    <a:bodyPr/>
                    <a:lstStyle/>
                    <a:p>
                      <a:r>
                        <a:rPr sz="1725" b="0">
                          <a:solidFill>
                            <a:srgbClr val="172F42"/>
                          </a:solidFill>
                          <a:latin typeface="Arial"/>
                          <a:ea typeface="Arial"/>
                          <a:cs typeface="Arial"/>
                        </a:rPr>
                        <a:t>BMP or SBP according to jurisdiction</a:t>
                      </a:r>
                    </a:p>
                  </a:txBody>
                  <a:tcPr marL="91440" marR="91440" marT="45720" marB="45720">
                    <a:solidFill>
                      <a:srgbClr val="FFFFFF"/>
                    </a:solidFill>
                  </a:tcPr>
                </a:tc>
              </a:tr>
            </a:tbl>
          </a:graphicData>
        </a:graphic>
      </p:graphicFrame>
      <p:sp>
        <p:nvSpPr>
          <p:cNvPr id="5" name="Rectangle 4">
            <a:extLst xmlns:a="http://schemas.openxmlformats.org/drawingml/2006/main">
              <a:ext uri="{FF2B5EF4-FFF2-40B4-BE49-F238E27FC236}">
                <a16:creationId xmlns:a16="http://schemas.microsoft.com/office/drawing/2014/main" id="{5857C881-9F97-4533-A3A2-E132C7283AFB}"/>
              </a:ext>
            </a:extLst>
          </p:cNvPr>
          <p:cNvSpPr>
            <a:spLocks xmlns:a="http://schemas.openxmlformats.org/drawingml/2006/main" noGrp="1"/>
          </p:cNvSpPr>
          <p:nvPr/>
        </p:nvSpPr>
        <p:spPr>
          <a:xfrm xmlns:a="http://schemas.openxmlformats.org/drawingml/2006/main">
            <a:off x="619125" y="5362575"/>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72F42"/>
                </a:solidFill>
                <a:latin typeface="Arial"/>
                <a:ea typeface="Arial"/>
                <a:cs typeface="Arial"/>
              </a:defRPr>
            </a:pPr>
            <a:r>
              <a:rPr sz="1875" b="0">
                <a:solidFill>
                  <a:srgbClr val="172F42"/>
                </a:solidFill>
                <a:latin typeface="Arial"/>
                <a:ea typeface="Arial"/>
                <a:cs typeface="Arial"/>
              </a:rPr>
              <a:t>SBP is not a general appeal from Banking Mohtasib decisions.</a:t>
            </a:r>
          </a:p>
          <a:p xmlns:a="http://schemas.openxmlformats.org/drawingml/2006/main">
            <a:pPr>
              <a:buNone/>
              <a:defRPr sz="1875" b="0">
                <a:solidFill>
                  <a:srgbClr val="172F42"/>
                </a:solidFill>
                <a:latin typeface="Arial"/>
                <a:ea typeface="Arial"/>
                <a:cs typeface="Arial"/>
              </a:defRPr>
            </a:pPr>
            <a:r>
              <a:rPr sz="1875" b="0">
                <a:solidFill>
                  <a:srgbClr val="172F42"/>
                </a:solidFill>
                <a:latin typeface="Arial"/>
                <a:ea typeface="Arial"/>
                <a:cs typeface="Arial"/>
              </a:rPr>
              <a:t>Territorial, court and formal-appeal exceptions require review.</a:t>
            </a:r>
          </a:p>
        </p:txBody>
      </p:sp>
    </p:spTree>
    <p:extLst>
      <p:ext uri="{BB962C8B-B14F-4D97-AF65-F5344CB8AC3E}">
        <p14:creationId xmlns:p14="http://schemas.microsoft.com/office/powerpoint/2010/main" val="405854265"/>
      </p:ext>
    </p:extLst>
  </p:cSld>
</p:sld>
</file>

<file path=ppt/slides/slide1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7671537C-9F07-4CD4-B6FF-C7F26D90DE8B}"/>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Legal guidance people can inspect</a:t>
            </a:r>
          </a:p>
        </p:txBody>
      </p:sp>
      <p:sp>
        <p:nvSpPr>
          <p:cNvPr id="2" name="Rectangle 1">
            <a:extLst xmlns:a="http://schemas.openxmlformats.org/drawingml/2006/main">
              <a:ext uri="{FF2B5EF4-FFF2-40B4-BE49-F238E27FC236}">
                <a16:creationId xmlns:a16="http://schemas.microsoft.com/office/drawing/2014/main" id="{FCBE97BF-E172-410D-B657-BFEC9D6039E4}"/>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626DDE14-F13E-4071-87CA-61B940EAA7B1}"/>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11</a:t>
            </a:r>
          </a:p>
        </p:txBody>
      </p:sp>
      <p:sp>
        <p:nvSpPr>
          <p:cNvPr id="4" name="Rectangle 3">
            <a:extLst xmlns:a="http://schemas.openxmlformats.org/drawingml/2006/main">
              <a:ext uri="{FF2B5EF4-FFF2-40B4-BE49-F238E27FC236}">
                <a16:creationId xmlns:a16="http://schemas.microsoft.com/office/drawing/2014/main" id="{5F4D141D-2E58-404B-AAC4-24868253FBAE}"/>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01</a:t>
            </a:r>
          </a:p>
        </p:txBody>
      </p:sp>
      <p:sp>
        <p:nvSpPr>
          <p:cNvPr id="5" name="Rectangle 4">
            <a:extLst xmlns:a="http://schemas.openxmlformats.org/drawingml/2006/main">
              <a:ext uri="{FF2B5EF4-FFF2-40B4-BE49-F238E27FC236}">
                <a16:creationId xmlns:a16="http://schemas.microsoft.com/office/drawing/2014/main" id="{10B82928-F817-4E2B-B935-B8E647D3620A}"/>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Explain the governing framework, rights and available remedies.</a:t>
            </a:r>
          </a:p>
        </p:txBody>
      </p:sp>
      <p:sp>
        <p:nvSpPr>
          <p:cNvPr id="6" name="Rectangle 5">
            <a:extLst xmlns:a="http://schemas.openxmlformats.org/drawingml/2006/main">
              <a:ext uri="{FF2B5EF4-FFF2-40B4-BE49-F238E27FC236}">
                <a16:creationId xmlns:a16="http://schemas.microsoft.com/office/drawing/2014/main" id="{5D928C93-2C2D-4E42-A1D7-FC9B9DE2B036}"/>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02</a:t>
            </a:r>
          </a:p>
        </p:txBody>
      </p:sp>
      <p:sp>
        <p:nvSpPr>
          <p:cNvPr id="7" name="Rectangle 6">
            <a:extLst xmlns:a="http://schemas.openxmlformats.org/drawingml/2006/main">
              <a:ext uri="{FF2B5EF4-FFF2-40B4-BE49-F238E27FC236}">
                <a16:creationId xmlns:a16="http://schemas.microsoft.com/office/drawing/2014/main" id="{7E88F82E-C011-4B9E-9A72-03057457BECF}"/>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Attach official sources and distinguish procedure from alleged breach.</a:t>
            </a:r>
          </a:p>
        </p:txBody>
      </p:sp>
      <p:sp>
        <p:nvSpPr>
          <p:cNvPr id="8" name="Rectangle 7">
            <a:extLst xmlns:a="http://schemas.openxmlformats.org/drawingml/2006/main">
              <a:ext uri="{FF2B5EF4-FFF2-40B4-BE49-F238E27FC236}">
                <a16:creationId xmlns:a16="http://schemas.microsoft.com/office/drawing/2014/main" id="{7ABFF1A5-814A-4423-977C-688142C97BE3}"/>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03</a:t>
            </a:r>
          </a:p>
        </p:txBody>
      </p:sp>
      <p:sp>
        <p:nvSpPr>
          <p:cNvPr id="9" name="Rectangle 8">
            <a:extLst xmlns:a="http://schemas.openxmlformats.org/drawingml/2006/main">
              <a:ext uri="{FF2B5EF4-FFF2-40B4-BE49-F238E27FC236}">
                <a16:creationId xmlns:a16="http://schemas.microsoft.com/office/drawing/2014/main" id="{49D1A678-B39F-4467-A818-C6BE7B4CC37B}"/>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Use the selected regional office, or the main department/provider.</a:t>
            </a:r>
          </a:p>
        </p:txBody>
      </p:sp>
      <p:sp>
        <p:nvSpPr>
          <p:cNvPr id="10" name="Rectangle 9">
            <a:extLst xmlns:a="http://schemas.openxmlformats.org/drawingml/2006/main">
              <a:ext uri="{FF2B5EF4-FFF2-40B4-BE49-F238E27FC236}">
                <a16:creationId xmlns:a16="http://schemas.microsoft.com/office/drawing/2014/main" id="{2A06434F-DA08-49A9-A2A8-1885796E6B1F}"/>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04</a:t>
            </a:r>
          </a:p>
        </p:txBody>
      </p:sp>
      <p:sp>
        <p:nvSpPr>
          <p:cNvPr id="11" name="Rectangle 10">
            <a:extLst xmlns:a="http://schemas.openxmlformats.org/drawingml/2006/main">
              <a:ext uri="{FF2B5EF4-FFF2-40B4-BE49-F238E27FC236}">
                <a16:creationId xmlns:a16="http://schemas.microsoft.com/office/drawing/2014/main" id="{1FE0972D-9983-40EC-8F30-25B75F63FBD0}"/>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Flag conflicting rules, uncertain jurisdiction and outdated material.</a:t>
            </a:r>
          </a:p>
        </p:txBody>
      </p:sp>
    </p:spTree>
    <p:extLst>
      <p:ext uri="{BB962C8B-B14F-4D97-AF65-F5344CB8AC3E}">
        <p14:creationId xmlns:p14="http://schemas.microsoft.com/office/powerpoint/2010/main" val="1848651326"/>
      </p:ext>
    </p:extLst>
  </p:cSld>
</p:sld>
</file>

<file path=ppt/slides/slide1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B37A9B2-7B16-4585-BA47-700BC869F794}"/>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93244"/>
                </a:solidFill>
                <a:latin typeface="Arial"/>
                <a:ea typeface="Arial"/>
                <a:cs typeface="Arial"/>
              </a:defRPr>
            </a:pPr>
            <a:r>
              <a:rPr sz="3300" b="1">
                <a:solidFill>
                  <a:srgbClr val="193244"/>
                </a:solidFill>
                <a:latin typeface="Arial"/>
                <a:ea typeface="Arial"/>
                <a:cs typeface="Arial"/>
              </a:rPr>
              <a:t>Regional complaint recipients</a:t>
            </a:r>
          </a:p>
        </p:txBody>
      </p:sp>
      <p:sp>
        <p:nvSpPr>
          <p:cNvPr id="2" name="">
            <a:extLst xmlns:a="http://schemas.openxmlformats.org/drawingml/2006/main">
              <a:ext uri="{FF2B5EF4-FFF2-40B4-BE49-F238E27FC236}">
                <a16:creationId xmlns:a16="http://schemas.microsoft.com/office/drawing/2014/main" id="{177FB1EC-13DD-4A7B-B290-54E7CFF42AE3}"/>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4DD37D44-E095-4CDD-9F98-5D84D5E4F476}"/>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PEMRA offers five Council routes and regional receiving-office choices.</a:t>
            </a:r>
          </a:p>
        </p:txBody>
      </p:sp>
      <p:sp>
        <p:nvSpPr>
          <p:cNvPr id="4" name="">
            <a:extLst xmlns:a="http://schemas.openxmlformats.org/drawingml/2006/main">
              <a:ext uri="{FF2B5EF4-FFF2-40B4-BE49-F238E27FC236}">
                <a16:creationId xmlns:a16="http://schemas.microsoft.com/office/drawing/2014/main" id="{48E89101-E894-40A9-BE58-9F464807B20F}"/>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C30A047E-4A17-4D9D-ACB8-878258723ABC}"/>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Regional offices receive complaints and route Council matters to the provincial Council.</a:t>
            </a:r>
          </a:p>
        </p:txBody>
      </p:sp>
      <p:sp>
        <p:nvSpPr>
          <p:cNvPr id="6" name="">
            <a:extLst xmlns:a="http://schemas.openxmlformats.org/drawingml/2006/main">
              <a:ext uri="{FF2B5EF4-FFF2-40B4-BE49-F238E27FC236}">
                <a16:creationId xmlns:a16="http://schemas.microsoft.com/office/drawing/2014/main" id="{74DBD632-2305-415A-8B1A-8F122AA5E507}"/>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7A3F5028-165B-450F-8E4B-91C97F0EB072}"/>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AJK and Gilgit-Baltistan retain PEMRA territorial review guidance.</a:t>
            </a:r>
          </a:p>
        </p:txBody>
      </p:sp>
      <p:sp>
        <p:nvSpPr>
          <p:cNvPr id="8" name="">
            <a:extLst xmlns:a="http://schemas.openxmlformats.org/drawingml/2006/main">
              <a:ext uri="{FF2B5EF4-FFF2-40B4-BE49-F238E27FC236}">
                <a16:creationId xmlns:a16="http://schemas.microsoft.com/office/drawing/2014/main" id="{DBB8DE01-96CC-492F-A009-976C7BA1E324}"/>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7C80"/>
                </a:solidFill>
                <a:latin typeface="Arial"/>
                <a:ea typeface="Arial"/>
                <a:cs typeface="Arial"/>
              </a:defRPr>
            </a:pPr>
            <a:r>
              <a:rPr sz="2250" b="1">
                <a:solidFill>
                  <a:srgbClr val="167C80"/>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582EDA5B-15B4-40AF-89C3-7608095BA6FA}"/>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244"/>
                </a:solidFill>
                <a:latin typeface="Arial"/>
                <a:ea typeface="Arial"/>
                <a:cs typeface="Arial"/>
              </a:defRPr>
            </a:pPr>
            <a:r>
              <a:rPr sz="2175" b="0">
                <a:solidFill>
                  <a:srgbClr val="193244"/>
                </a:solidFill>
                <a:latin typeface="Arial"/>
                <a:ea typeface="Arial"/>
                <a:cs typeface="Arial"/>
              </a:rPr>
              <a:t>Other providers use their main recipient when a regional office is unavailable.</a:t>
            </a:r>
          </a:p>
        </p:txBody>
      </p:sp>
      <p:sp>
        <p:nvSpPr>
          <p:cNvPr id="10" name="">
            <a:extLst xmlns:a="http://schemas.openxmlformats.org/drawingml/2006/main">
              <a:ext uri="{FF2B5EF4-FFF2-40B4-BE49-F238E27FC236}">
                <a16:creationId xmlns:a16="http://schemas.microsoft.com/office/drawing/2014/main" id="{CA64632A-23FB-4BF9-9A93-348EF999FB5F}"/>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48677B"/>
                </a:solidFill>
                <a:latin typeface="Arial"/>
                <a:ea typeface="Arial"/>
                <a:cs typeface="Arial"/>
              </a:defRPr>
            </a:pPr>
            <a:r>
              <a:rPr sz="1200" b="0">
                <a:solidFill>
                  <a:srgbClr val="48677B"/>
                </a:solidFill>
                <a:latin typeface="Arial"/>
                <a:ea typeface="Arial"/>
                <a:cs typeface="Arial"/>
              </a:rPr>
              <a:t>Civic Access  •  5 October 2026</a:t>
            </a:r>
          </a:p>
        </p:txBody>
      </p:sp>
      <p:sp>
        <p:nvSpPr>
          <p:cNvPr id="11" name="">
            <a:extLst xmlns:a="http://schemas.openxmlformats.org/drawingml/2006/main">
              <a:ext uri="{FF2B5EF4-FFF2-40B4-BE49-F238E27FC236}">
                <a16:creationId xmlns:a16="http://schemas.microsoft.com/office/drawing/2014/main" id="{54A96A81-1603-48D6-81CB-0B26BD8775EA}"/>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48677B"/>
                </a:solidFill>
                <a:latin typeface="Arial"/>
                <a:ea typeface="Arial"/>
                <a:cs typeface="Arial"/>
              </a:defRPr>
            </a:pPr>
            <a:r>
              <a:rPr sz="1350" b="0">
                <a:solidFill>
                  <a:srgbClr val="48677B"/>
                </a:solidFill>
                <a:latin typeface="Arial"/>
                <a:ea typeface="Arial"/>
                <a:cs typeface="Arial"/>
              </a:rPr>
              <a:t>12</a:t>
            </a:r>
          </a:p>
        </p:txBody>
      </p:sp>
    </p:spTree>
    <p:extLst>
      <p:ext uri="{BB962C8B-B14F-4D97-AF65-F5344CB8AC3E}">
        <p14:creationId xmlns:p14="http://schemas.microsoft.com/office/powerpoint/2010/main" val="1538012325"/>
      </p:ext>
    </p:extLst>
  </p:cSld>
</p:sld>
</file>

<file path=ppt/slides/slide1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363AF016-AEC4-4018-A716-FE943CA86EB9}"/>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FIR and Right to Information</a:t>
            </a:r>
          </a:p>
        </p:txBody>
      </p:sp>
      <p:sp>
        <p:nvSpPr>
          <p:cNvPr id="2" name="Rectangle 1">
            <a:extLst xmlns:a="http://schemas.openxmlformats.org/drawingml/2006/main">
              <a:ext uri="{FF2B5EF4-FFF2-40B4-BE49-F238E27FC236}">
                <a16:creationId xmlns:a16="http://schemas.microsoft.com/office/drawing/2014/main" id="{690AA74F-C4E2-4F7D-8019-424A5D633331}"/>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7EBD52F8-D1CD-4C36-B3C4-CB2C001C342D}"/>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13</a:t>
            </a:r>
          </a:p>
        </p:txBody>
      </p:sp>
      <p:sp>
        <p:nvSpPr>
          <p:cNvPr id="4" name="Rectangle 3">
            <a:extLst xmlns:a="http://schemas.openxmlformats.org/drawingml/2006/main">
              <a:ext uri="{FF2B5EF4-FFF2-40B4-BE49-F238E27FC236}">
                <a16:creationId xmlns:a16="http://schemas.microsoft.com/office/drawing/2014/main" id="{F54E2D91-8650-45DF-B4EA-1C0CCBD2D2BD}"/>
              </a:ext>
            </a:extLst>
          </p:cNvPr>
          <p:cNvSpPr>
            <a:spLocks xmlns:a="http://schemas.openxmlformats.org/drawingml/2006/main" noGrp="1"/>
          </p:cNvSpPr>
          <p:nvPr/>
        </p:nvSpPr>
        <p:spPr>
          <a:xfrm xmlns:a="http://schemas.openxmlformats.org/drawingml/2006/main">
            <a:off x="619125" y="1857375"/>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67A79"/>
                </a:solidFill>
                <a:latin typeface="Arial"/>
                <a:ea typeface="Arial"/>
                <a:cs typeface="Arial"/>
              </a:defRPr>
            </a:pPr>
            <a:r>
              <a:rPr sz="2400" b="1">
                <a:solidFill>
                  <a:srgbClr val="167A79"/>
                </a:solidFill>
                <a:latin typeface="Arial"/>
                <a:ea typeface="Arial"/>
                <a:cs typeface="Arial"/>
              </a:rPr>
              <a:t>FIR and Offence Guide</a:t>
            </a:r>
          </a:p>
        </p:txBody>
      </p:sp>
      <p:sp>
        <p:nvSpPr>
          <p:cNvPr id="5" name="Rectangle 4">
            <a:extLst xmlns:a="http://schemas.openxmlformats.org/drawingml/2006/main">
              <a:ext uri="{FF2B5EF4-FFF2-40B4-BE49-F238E27FC236}">
                <a16:creationId xmlns:a16="http://schemas.microsoft.com/office/drawing/2014/main" id="{681200B7-25D0-4773-9087-6D9825412BE9}"/>
              </a:ext>
            </a:extLst>
          </p:cNvPr>
          <p:cNvSpPr>
            <a:spLocks xmlns:a="http://schemas.openxmlformats.org/drawingml/2006/main" noGrp="1"/>
          </p:cNvSpPr>
          <p:nvPr/>
        </p:nvSpPr>
        <p:spPr>
          <a:xfrm xmlns:a="http://schemas.openxmlformats.org/drawingml/2006/main">
            <a:off x="619125" y="2524125"/>
            <a:ext cx="50958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13 common incident scenarios</a:t>
            </a:r>
          </a:p>
          <a:p xmlns:a="http://schemas.openxmlformats.org/drawingml/2006/main">
            <a:endParaRPr sz="2100" b="0">
              <a:solidFill>
                <a:srgbClr val="172F42"/>
              </a:solidFill>
              <a:latin typeface="Arial"/>
              <a:ea typeface="Arial"/>
              <a:cs typeface="Arial"/>
            </a:endParaRPr>
          </a:p>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Fact questions and potential PPC or PECA provisions</a:t>
            </a:r>
          </a:p>
          <a:p xmlns:a="http://schemas.openxmlformats.org/drawingml/2006/main">
            <a:endParaRPr sz="2100" b="0">
              <a:solidFill>
                <a:srgbClr val="172F42"/>
              </a:solidFill>
              <a:latin typeface="Arial"/>
              <a:ea typeface="Arial"/>
              <a:cs typeface="Arial"/>
            </a:endParaRPr>
          </a:p>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CrPC reporting procedure and evidence preparation</a:t>
            </a:r>
          </a:p>
        </p:txBody>
      </p:sp>
      <p:sp>
        <p:nvSpPr>
          <p:cNvPr id="6" name="Rectangle 5">
            <a:extLst xmlns:a="http://schemas.openxmlformats.org/drawingml/2006/main">
              <a:ext uri="{FF2B5EF4-FFF2-40B4-BE49-F238E27FC236}">
                <a16:creationId xmlns:a16="http://schemas.microsoft.com/office/drawing/2014/main" id="{405896B8-CAA9-4F50-9305-95D9AE449CE5}"/>
              </a:ext>
            </a:extLst>
          </p:cNvPr>
          <p:cNvSpPr>
            <a:spLocks xmlns:a="http://schemas.openxmlformats.org/drawingml/2006/main" noGrp="1"/>
          </p:cNvSpPr>
          <p:nvPr/>
        </p:nvSpPr>
        <p:spPr>
          <a:xfrm xmlns:a="http://schemas.openxmlformats.org/drawingml/2006/main">
            <a:off x="6572250" y="185737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67A79"/>
                </a:solidFill>
                <a:latin typeface="Arial"/>
                <a:ea typeface="Arial"/>
                <a:cs typeface="Arial"/>
              </a:defRPr>
            </a:pPr>
            <a:r>
              <a:rPr sz="2400" b="1">
                <a:solidFill>
                  <a:srgbClr val="167A79"/>
                </a:solidFill>
                <a:latin typeface="Arial"/>
                <a:ea typeface="Arial"/>
                <a:cs typeface="Arial"/>
              </a:rPr>
              <a:t>Right to Information</a:t>
            </a:r>
          </a:p>
        </p:txBody>
      </p:sp>
      <p:sp>
        <p:nvSpPr>
          <p:cNvPr id="7" name="Rectangle 6">
            <a:extLst xmlns:a="http://schemas.openxmlformats.org/drawingml/2006/main">
              <a:ext uri="{FF2B5EF4-FFF2-40B4-BE49-F238E27FC236}">
                <a16:creationId xmlns:a16="http://schemas.microsoft.com/office/drawing/2014/main" id="{E9BF91E3-CFC4-455D-8CD6-FBCA82C6C810}"/>
              </a:ext>
            </a:extLst>
          </p:cNvPr>
          <p:cNvSpPr>
            <a:spLocks xmlns:a="http://schemas.openxmlformats.org/drawingml/2006/main" noGrp="1"/>
          </p:cNvSpPr>
          <p:nvPr/>
        </p:nvSpPr>
        <p:spPr>
          <a:xfrm xmlns:a="http://schemas.openxmlformats.org/drawingml/2006/main">
            <a:off x="6572250" y="2524125"/>
            <a:ext cx="4953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Federal and provincial guidance</a:t>
            </a:r>
          </a:p>
          <a:p xmlns:a="http://schemas.openxmlformats.org/drawingml/2006/main">
            <a:endParaRPr sz="2100" b="0">
              <a:solidFill>
                <a:srgbClr val="172F42"/>
              </a:solidFill>
              <a:latin typeface="Arial"/>
              <a:ea typeface="Arial"/>
              <a:cs typeface="Arial"/>
            </a:endParaRPr>
          </a:p>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Identify the record holder and request specific records</a:t>
            </a:r>
          </a:p>
          <a:p xmlns:a="http://schemas.openxmlformats.org/drawingml/2006/main">
            <a:endParaRPr sz="2100" b="0">
              <a:solidFill>
                <a:srgbClr val="172F42"/>
              </a:solidFill>
              <a:latin typeface="Arial"/>
              <a:ea typeface="Arial"/>
              <a:cs typeface="Arial"/>
            </a:endParaRPr>
          </a:p>
          <a:p xmlns:a="http://schemas.openxmlformats.org/drawingml/2006/main">
            <a:pPr>
              <a:buNone/>
              <a:defRPr sz="2100" b="0">
                <a:solidFill>
                  <a:srgbClr val="172F42"/>
                </a:solidFill>
                <a:latin typeface="Arial"/>
                <a:ea typeface="Arial"/>
                <a:cs typeface="Arial"/>
              </a:defRPr>
            </a:pPr>
            <a:r>
              <a:rPr sz="2100" b="0">
                <a:solidFill>
                  <a:srgbClr val="172F42"/>
                </a:solidFill>
                <a:latin typeface="Arial"/>
                <a:ea typeface="Arial"/>
                <a:cs typeface="Arial"/>
              </a:rPr>
              <a:t>Download a request and understand review options</a:t>
            </a:r>
          </a:p>
        </p:txBody>
      </p:sp>
      <p:sp>
        <p:nvSpPr>
          <p:cNvPr id="8" name="Rectangle 7">
            <a:extLst xmlns:a="http://schemas.openxmlformats.org/drawingml/2006/main">
              <a:ext uri="{FF2B5EF4-FFF2-40B4-BE49-F238E27FC236}">
                <a16:creationId xmlns:a16="http://schemas.microsoft.com/office/drawing/2014/main" id="{319F46C3-D487-4966-A81A-16A79EB81ED9}"/>
              </a:ext>
            </a:extLst>
          </p:cNvPr>
          <p:cNvSpPr>
            <a:spLocks xmlns:a="http://schemas.openxmlformats.org/drawingml/2006/main" noGrp="1"/>
          </p:cNvSpPr>
          <p:nvPr/>
        </p:nvSpPr>
        <p:spPr>
          <a:xfrm xmlns:a="http://schemas.openxmlformats.org/drawingml/2006/main">
            <a:off x="619125" y="58007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172F42"/>
                </a:solidFill>
                <a:latin typeface="Arial"/>
                <a:ea typeface="Arial"/>
                <a:cs typeface="Arial"/>
              </a:defRPr>
            </a:pPr>
            <a:r>
              <a:rPr sz="1650" b="0">
                <a:solidFill>
                  <a:srgbClr val="172F42"/>
                </a:solidFill>
                <a:latin typeface="Arial"/>
                <a:ea typeface="Arial"/>
                <a:cs typeface="Arial"/>
              </a:rPr>
              <a:t>The app does not determine guilt, guarantee FIR registration or assume an unverified territorial law.</a:t>
            </a:r>
          </a:p>
        </p:txBody>
      </p:sp>
    </p:spTree>
    <p:extLst>
      <p:ext uri="{BB962C8B-B14F-4D97-AF65-F5344CB8AC3E}">
        <p14:creationId xmlns:p14="http://schemas.microsoft.com/office/powerpoint/2010/main" val="2120469519"/>
      </p:ext>
    </p:extLst>
  </p:cSld>
</p:sld>
</file>

<file path=ppt/slides/slide1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E4322C35-53D0-41B3-AE64-A190B2A16118}"/>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The deployed RTI workspace</a:t>
            </a:r>
          </a:p>
        </p:txBody>
      </p:sp>
      <p:sp>
        <p:nvSpPr>
          <p:cNvPr id="2" name="Rectangle 1">
            <a:extLst xmlns:a="http://schemas.openxmlformats.org/drawingml/2006/main">
              <a:ext uri="{FF2B5EF4-FFF2-40B4-BE49-F238E27FC236}">
                <a16:creationId xmlns:a16="http://schemas.microsoft.com/office/drawing/2014/main" id="{D0379C1E-7831-40F4-A85C-5DE3BEA36C49}"/>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632C6834-F46C-4E37-B82C-72C9E02D2603}"/>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14</a:t>
            </a:r>
          </a:p>
        </p:txBody>
      </p:sp>
      <p:pic>
        <p:nvPicPr>
          <p:cNvPr id="10" name="Picture 7"/>
          <p:cNvPicPr>
            <a:picLocks xmlns:a="http://schemas.openxmlformats.org/drawingml/2006/main" noChangeAspect="1"/>
          </p:cNvPicPr>
          <p:nvPr/>
        </p:nvPicPr>
        <p:blipFill>
          <a:blip xmlns:r="http://schemas.openxmlformats.org/officeDocument/2006/relationships" xmlns:a="http://schemas.openxmlformats.org/drawingml/2006/main" r:embed="R02c4646629494ec0"/>
          <a:stretch xmlns:a="http://schemas.openxmlformats.org/drawingml/2006/main"/>
        </p:blipFill>
        <p:spPr>
          <a:xfrm xmlns:a="http://schemas.openxmlformats.org/drawingml/2006/main">
            <a:off x="1180607" y="1476375"/>
            <a:ext cx="9830787" cy="4448175"/>
          </a:xfrm>
          <a:prstGeom xmlns:a="http://schemas.openxmlformats.org/drawingml/2006/main" prst="rect">
            <a:avLst/>
          </a:prstGeom>
        </p:spPr>
      </p:pic>
    </p:spTree>
    <p:extLst>
      <p:ext uri="{BB962C8B-B14F-4D97-AF65-F5344CB8AC3E}">
        <p14:creationId xmlns:p14="http://schemas.microsoft.com/office/powerpoint/2010/main" val="605667688"/>
      </p:ext>
    </p:extLst>
  </p:cSld>
</p:sld>
</file>

<file path=ppt/slides/slide1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4E7EFFC8-EAB1-4F92-9827-4BB32DD4DE47}"/>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Privacy and user control</a:t>
            </a:r>
          </a:p>
        </p:txBody>
      </p:sp>
      <p:sp>
        <p:nvSpPr>
          <p:cNvPr id="2" name="Rectangle 1">
            <a:extLst xmlns:a="http://schemas.openxmlformats.org/drawingml/2006/main">
              <a:ext uri="{FF2B5EF4-FFF2-40B4-BE49-F238E27FC236}">
                <a16:creationId xmlns:a16="http://schemas.microsoft.com/office/drawing/2014/main" id="{3326886B-43A9-4ACC-A4B0-35A881E4F69F}"/>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2E206DE1-1BE4-40FD-9D8F-0F07135978E1}"/>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15</a:t>
            </a:r>
          </a:p>
        </p:txBody>
      </p:sp>
      <p:sp>
        <p:nvSpPr>
          <p:cNvPr id="4" name="Rectangle 3">
            <a:extLst xmlns:a="http://schemas.openxmlformats.org/drawingml/2006/main">
              <a:ext uri="{FF2B5EF4-FFF2-40B4-BE49-F238E27FC236}">
                <a16:creationId xmlns:a16="http://schemas.microsoft.com/office/drawing/2014/main" id="{76AA3A86-7C03-4D1F-B35E-31320CC93F32}"/>
              </a:ext>
            </a:extLst>
          </p:cNvPr>
          <p:cNvSpPr>
            <a:spLocks xmlns:a="http://schemas.openxmlformats.org/drawingml/2006/main" noGrp="1"/>
          </p:cNvSpPr>
          <p:nvPr/>
        </p:nvSpPr>
        <p:spPr>
          <a:xfrm xmlns:a="http://schemas.openxmlformats.org/drawingml/2006/main">
            <a:off x="628650" y="1809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01</a:t>
            </a:r>
          </a:p>
        </p:txBody>
      </p:sp>
      <p:sp>
        <p:nvSpPr>
          <p:cNvPr id="5" name="Rectangle 4">
            <a:extLst xmlns:a="http://schemas.openxmlformats.org/drawingml/2006/main">
              <a:ext uri="{FF2B5EF4-FFF2-40B4-BE49-F238E27FC236}">
                <a16:creationId xmlns:a16="http://schemas.microsoft.com/office/drawing/2014/main" id="{A7ED03BC-E471-41C7-BB02-3A91D740DDE3}"/>
              </a:ext>
            </a:extLst>
          </p:cNvPr>
          <p:cNvSpPr>
            <a:spLocks xmlns:a="http://schemas.openxmlformats.org/drawingml/2006/main" noGrp="1"/>
          </p:cNvSpPr>
          <p:nvPr/>
        </p:nvSpPr>
        <p:spPr>
          <a:xfrm xmlns:a="http://schemas.openxmlformats.org/drawingml/2006/main">
            <a:off x="1476375" y="1809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Guidance and official links are accessible without identity details.</a:t>
            </a:r>
          </a:p>
        </p:txBody>
      </p:sp>
      <p:sp>
        <p:nvSpPr>
          <p:cNvPr id="6" name="Rectangle 5">
            <a:extLst xmlns:a="http://schemas.openxmlformats.org/drawingml/2006/main">
              <a:ext uri="{FF2B5EF4-FFF2-40B4-BE49-F238E27FC236}">
                <a16:creationId xmlns:a16="http://schemas.microsoft.com/office/drawing/2014/main" id="{473CB06C-84BC-4118-93FB-C930FC9474B2}"/>
              </a:ext>
            </a:extLst>
          </p:cNvPr>
          <p:cNvSpPr>
            <a:spLocks xmlns:a="http://schemas.openxmlformats.org/drawingml/2006/main" noGrp="1"/>
          </p:cNvSpPr>
          <p:nvPr/>
        </p:nvSpPr>
        <p:spPr>
          <a:xfrm xmlns:a="http://schemas.openxmlformats.org/drawingml/2006/main">
            <a:off x="628650" y="2762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02</a:t>
            </a:r>
          </a:p>
        </p:txBody>
      </p:sp>
      <p:sp>
        <p:nvSpPr>
          <p:cNvPr id="7" name="Rectangle 6">
            <a:extLst xmlns:a="http://schemas.openxmlformats.org/drawingml/2006/main">
              <a:ext uri="{FF2B5EF4-FFF2-40B4-BE49-F238E27FC236}">
                <a16:creationId xmlns:a16="http://schemas.microsoft.com/office/drawing/2014/main" id="{5EDAD4E9-65A4-4B7B-B5AA-5AD8147FF33A}"/>
              </a:ext>
            </a:extLst>
          </p:cNvPr>
          <p:cNvSpPr>
            <a:spLocks xmlns:a="http://schemas.openxmlformats.org/drawingml/2006/main" noGrp="1"/>
          </p:cNvSpPr>
          <p:nvPr/>
        </p:nvSpPr>
        <p:spPr>
          <a:xfrm xmlns:a="http://schemas.openxmlformats.org/drawingml/2006/main">
            <a:off x="1476375" y="2762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Required: applicant name, CNIC number, expiry date and mobile number.</a:t>
            </a:r>
          </a:p>
        </p:txBody>
      </p:sp>
      <p:sp>
        <p:nvSpPr>
          <p:cNvPr id="8" name="Rectangle 7">
            <a:extLst xmlns:a="http://schemas.openxmlformats.org/drawingml/2006/main">
              <a:ext uri="{FF2B5EF4-FFF2-40B4-BE49-F238E27FC236}">
                <a16:creationId xmlns:a16="http://schemas.microsoft.com/office/drawing/2014/main" id="{250140A5-5F4E-4919-BB4A-0A94188A360A}"/>
              </a:ext>
            </a:extLst>
          </p:cNvPr>
          <p:cNvSpPr>
            <a:spLocks xmlns:a="http://schemas.openxmlformats.org/drawingml/2006/main" noGrp="1"/>
          </p:cNvSpPr>
          <p:nvPr/>
        </p:nvSpPr>
        <p:spPr>
          <a:xfrm xmlns:a="http://schemas.openxmlformats.org/drawingml/2006/main">
            <a:off x="628650" y="37147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03</a:t>
            </a:r>
          </a:p>
        </p:txBody>
      </p:sp>
      <p:sp>
        <p:nvSpPr>
          <p:cNvPr id="9" name="Rectangle 8">
            <a:extLst xmlns:a="http://schemas.openxmlformats.org/drawingml/2006/main">
              <a:ext uri="{FF2B5EF4-FFF2-40B4-BE49-F238E27FC236}">
                <a16:creationId xmlns:a16="http://schemas.microsoft.com/office/drawing/2014/main" id="{68E969B7-4354-4975-8435-1810E27A415F}"/>
              </a:ext>
            </a:extLst>
          </p:cNvPr>
          <p:cNvSpPr>
            <a:spLocks xmlns:a="http://schemas.openxmlformats.org/drawingml/2006/main" noGrp="1"/>
          </p:cNvSpPr>
          <p:nvPr/>
        </p:nvSpPr>
        <p:spPr>
          <a:xfrm xmlns:a="http://schemas.openxmlformats.org/drawingml/2006/main">
            <a:off x="1476375" y="37147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All uploads are optional; users review OCR and generated text.</a:t>
            </a:r>
          </a:p>
        </p:txBody>
      </p:sp>
      <p:sp>
        <p:nvSpPr>
          <p:cNvPr id="10" name="Rectangle 9">
            <a:extLst xmlns:a="http://schemas.openxmlformats.org/drawingml/2006/main">
              <a:ext uri="{FF2B5EF4-FFF2-40B4-BE49-F238E27FC236}">
                <a16:creationId xmlns:a16="http://schemas.microsoft.com/office/drawing/2014/main" id="{E49011C4-F87C-4180-9E8E-BD8F75E28D6E}"/>
              </a:ext>
            </a:extLst>
          </p:cNvPr>
          <p:cNvSpPr>
            <a:spLocks xmlns:a="http://schemas.openxmlformats.org/drawingml/2006/main" noGrp="1"/>
          </p:cNvSpPr>
          <p:nvPr/>
        </p:nvSpPr>
        <p:spPr>
          <a:xfrm xmlns:a="http://schemas.openxmlformats.org/drawingml/2006/main">
            <a:off x="628650" y="46672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67A79"/>
                </a:solidFill>
                <a:latin typeface="Arial"/>
                <a:ea typeface="Arial"/>
                <a:cs typeface="Arial"/>
              </a:defRPr>
            </a:pPr>
            <a:r>
              <a:rPr sz="2250" b="1">
                <a:solidFill>
                  <a:srgbClr val="167A79"/>
                </a:solidFill>
                <a:latin typeface="Arial"/>
                <a:ea typeface="Arial"/>
                <a:cs typeface="Arial"/>
              </a:rPr>
              <a:t>04</a:t>
            </a:r>
          </a:p>
        </p:txBody>
      </p:sp>
      <p:sp>
        <p:nvSpPr>
          <p:cNvPr id="11" name="Rectangle 10">
            <a:extLst xmlns:a="http://schemas.openxmlformats.org/drawingml/2006/main">
              <a:ext uri="{FF2B5EF4-FFF2-40B4-BE49-F238E27FC236}">
                <a16:creationId xmlns:a16="http://schemas.microsoft.com/office/drawing/2014/main" id="{E8A454C9-C4BF-4E9C-BE87-F0BEC5E0DACC}"/>
              </a:ext>
            </a:extLst>
          </p:cNvPr>
          <p:cNvSpPr>
            <a:spLocks xmlns:a="http://schemas.openxmlformats.org/drawingml/2006/main" noGrp="1"/>
          </p:cNvSpPr>
          <p:nvPr/>
        </p:nvSpPr>
        <p:spPr>
          <a:xfrm xmlns:a="http://schemas.openxmlformats.org/drawingml/2006/main">
            <a:off x="1476375" y="4667250"/>
            <a:ext cx="1000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F42"/>
                </a:solidFill>
                <a:latin typeface="Arial"/>
                <a:ea typeface="Arial"/>
                <a:cs typeface="Arial"/>
              </a:defRPr>
            </a:pPr>
            <a:r>
              <a:rPr sz="2175" b="0">
                <a:solidFill>
                  <a:srgbClr val="172F42"/>
                </a:solidFill>
                <a:latin typeface="Arial"/>
                <a:ea typeface="Arial"/>
                <a:cs typeface="Arial"/>
              </a:rPr>
              <a:t>Private cases are session-local; analytics requires separate consent.</a:t>
            </a:r>
          </a:p>
        </p:txBody>
      </p:sp>
    </p:spTree>
    <p:extLst>
      <p:ext uri="{BB962C8B-B14F-4D97-AF65-F5344CB8AC3E}">
        <p14:creationId xmlns:p14="http://schemas.microsoft.com/office/powerpoint/2010/main" val="1547772171"/>
      </p:ext>
    </p:extLst>
  </p:cSld>
</p:sld>
</file>

<file path=ppt/slides/slide1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D62E397B-2C88-49B2-92C1-63967E57C77D}"/>
              </a:ext>
            </a:extLst>
          </p:cNvPr>
          <p:cNvSpPr>
            <a:spLocks xmlns:a="http://schemas.openxmlformats.org/drawingml/2006/main" noGrp="1"/>
          </p:cNvSpPr>
          <p:nvPr/>
        </p:nvSpPr>
        <p:spPr>
          <a:xfrm xmlns:a="http://schemas.openxmlformats.org/drawingml/2006/main">
            <a:off x="609600" y="4572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72F42"/>
                </a:solidFill>
                <a:latin typeface="Arial"/>
                <a:ea typeface="Arial"/>
                <a:cs typeface="Arial"/>
              </a:defRPr>
            </a:pPr>
            <a:r>
              <a:rPr sz="3300" b="1">
                <a:solidFill>
                  <a:srgbClr val="172F42"/>
                </a:solidFill>
                <a:latin typeface="Arial"/>
                <a:ea typeface="Arial"/>
                <a:cs typeface="Arial"/>
              </a:rPr>
              <a:t>Current release and next stages</a:t>
            </a:r>
          </a:p>
        </p:txBody>
      </p:sp>
      <p:sp>
        <p:nvSpPr>
          <p:cNvPr id="2" name="Rectangle 1">
            <a:extLst xmlns:a="http://schemas.openxmlformats.org/drawingml/2006/main">
              <a:ext uri="{FF2B5EF4-FFF2-40B4-BE49-F238E27FC236}">
                <a16:creationId xmlns:a16="http://schemas.microsoft.com/office/drawing/2014/main" id="{40245A3F-6065-4634-A5DC-6D8352EFE48B}"/>
              </a:ext>
            </a:extLst>
          </p:cNvPr>
          <p:cNvSpPr>
            <a:spLocks xmlns:a="http://schemas.openxmlformats.org/drawingml/2006/main" noGrp="1"/>
          </p:cNvSpPr>
          <p:nvPr/>
        </p:nvSpPr>
        <p:spPr>
          <a:xfrm xmlns:a="http://schemas.openxmlformats.org/drawingml/2006/main">
            <a:off x="609600" y="6391275"/>
            <a:ext cx="904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36B7A"/>
                </a:solidFill>
                <a:latin typeface="Arial"/>
                <a:ea typeface="Arial"/>
                <a:cs typeface="Arial"/>
              </a:defRPr>
            </a:pPr>
            <a:r>
              <a:rPr sz="1200" b="0">
                <a:solidFill>
                  <a:srgbClr val="536B7A"/>
                </a:solidFill>
                <a:latin typeface="Arial"/>
                <a:ea typeface="Arial"/>
                <a:cs typeface="Arial"/>
              </a:rPr>
              <a:t>Civic Access  •  </a:t>
            </a:r>
            <a:r>
              <a:rPr sz="1200" b="0">
                <a:solidFill>
                  <a:srgbClr val="536B7A"/>
                </a:solidFill>
                <a:latin typeface="Arial"/>
                <a:ea typeface="Arial"/>
                <a:cs typeface="Arial"/>
              </a:rPr>
              <a:t>5 October 2026</a:t>
            </a:r>
          </a:p>
        </p:txBody>
      </p:sp>
      <p:sp>
        <p:nvSpPr>
          <p:cNvPr id="3" name="Rectangle 2">
            <a:extLst xmlns:a="http://schemas.openxmlformats.org/drawingml/2006/main">
              <a:ext uri="{FF2B5EF4-FFF2-40B4-BE49-F238E27FC236}">
                <a16:creationId xmlns:a16="http://schemas.microsoft.com/office/drawing/2014/main" id="{AEDDC659-0431-475A-A837-0E7CA4198929}"/>
              </a:ext>
            </a:extLst>
          </p:cNvPr>
          <p:cNvSpPr>
            <a:spLocks xmlns:a="http://schemas.openxmlformats.org/drawingml/2006/main" noGrp="1"/>
          </p:cNvSpPr>
          <p:nvPr/>
        </p:nvSpPr>
        <p:spPr>
          <a:xfrm xmlns:a="http://schemas.openxmlformats.org/drawingml/2006/main">
            <a:off x="11049000" y="637222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36B7A"/>
                </a:solidFill>
                <a:latin typeface="Arial"/>
                <a:ea typeface="Arial"/>
                <a:cs typeface="Arial"/>
              </a:defRPr>
            </a:pPr>
            <a:r>
              <a:rPr sz="1350" b="0">
                <a:solidFill>
                  <a:srgbClr val="536B7A"/>
                </a:solidFill>
                <a:latin typeface="Arial"/>
                <a:ea typeface="Arial"/>
                <a:cs typeface="Arial"/>
              </a:rPr>
              <a:t>16</a:t>
            </a:r>
          </a:p>
        </p:txBody>
      </p:sp>
      <p:graphicFrame>
        <p:nvGraphicFramePr>
          <p:cNvPr id="11" name="Table 8"/>
          <p:cNvGraphicFramePr/>
          <p:nvPr/>
        </p:nvGraphicFramePr>
        <p:xfrm>
          <a:off xmlns:a="http://schemas.openxmlformats.org/drawingml/2006/main" x="609600" y="1666875"/>
          <a:ext xmlns:a="http://schemas.openxmlformats.org/drawingml/2006/main" cx="10972800" cy="3733800"/>
        </p:xfrm>
        <a:graphic xmlns:a="http://schemas.openxmlformats.org/drawingml/2006/main">
          <a:graphicData uri="http://schemas.openxmlformats.org/drawingml/2006/table">
            <a:tbl>
              <a:tblPr/>
              <a:tblGrid>
                <a:gridCol w="2952750"/>
                <a:gridCol w="8020050"/>
              </a:tblGrid>
              <a:tr h="746760">
                <a:tc>
                  <a:txBody>
                    <a:bodyPr/>
                    <a:lstStyle/>
                    <a:p>
                      <a:r>
                        <a:rPr sz="1725" b="1">
                          <a:solidFill>
                            <a:srgbClr val="FFFFFF"/>
                          </a:solidFill>
                          <a:latin typeface="Arial"/>
                          <a:ea typeface="Arial"/>
                          <a:cs typeface="Arial"/>
                        </a:rPr>
                        <a:t>Stage</a:t>
                      </a:r>
                    </a:p>
                  </a:txBody>
                  <a:tcPr marL="91440" marR="91440" marT="45720" marB="45720">
                    <a:solidFill>
                      <a:srgbClr val="23485B"/>
                    </a:solidFill>
                  </a:tcPr>
                </a:tc>
                <a:tc>
                  <a:txBody>
                    <a:bodyPr/>
                    <a:lstStyle/>
                    <a:p>
                      <a:r>
                        <a:rPr sz="1725" b="1">
                          <a:solidFill>
                            <a:srgbClr val="FFFFFF"/>
                          </a:solidFill>
                          <a:latin typeface="Arial"/>
                          <a:ea typeface="Arial"/>
                          <a:cs typeface="Arial"/>
                        </a:rPr>
                        <a:t>Status and next outcome</a:t>
                      </a:r>
                    </a:p>
                  </a:txBody>
                  <a:tcPr marL="91440" marR="91440" marT="45720" marB="45720">
                    <a:solidFill>
                      <a:srgbClr val="23485B"/>
                    </a:solidFill>
                  </a:tcPr>
                </a:tc>
              </a:tr>
              <a:tr h="746760">
                <a:tc>
                  <a:txBody>
                    <a:bodyPr/>
                    <a:lstStyle/>
                    <a:p>
                      <a:r>
                        <a:rPr sz="1725" b="0">
                          <a:solidFill>
                            <a:srgbClr val="172F42"/>
                          </a:solidFill>
                          <a:latin typeface="Arial"/>
                          <a:ea typeface="Arial"/>
                          <a:cs typeface="Arial"/>
                        </a:rPr>
                        <a:t>Working demonstration</a:t>
                      </a:r>
                    </a:p>
                  </a:txBody>
                  <a:tcPr marL="91440" marR="91440" marT="45720" marB="45720">
                    <a:solidFill>
                      <a:srgbClr val="FFFFFF"/>
                    </a:solidFill>
                  </a:tcPr>
                </a:tc>
                <a:tc>
                  <a:txBody>
                    <a:bodyPr/>
                    <a:lstStyle/>
                    <a:p>
                      <a:r>
                        <a:rPr sz="1725" b="0">
                          <a:solidFill>
                            <a:srgbClr val="172F42"/>
                          </a:solidFill>
                          <a:latin typeface="Arial"/>
                          <a:ea typeface="Arial"/>
                          <a:cs typeface="Arial"/>
                        </a:rPr>
                        <a:t>Groq suggestions and reviewed drafting added. Integration baseline: 199 tests passed.</a:t>
                      </a:r>
                    </a:p>
                  </a:txBody>
                  <a:tcPr marL="91440" marR="91440" marT="45720" marB="45720">
                    <a:solidFill>
                      <a:srgbClr val="FFFFFF"/>
                    </a:solidFill>
                  </a:tcPr>
                </a:tc>
              </a:tr>
              <a:tr h="746760">
                <a:tc>
                  <a:txBody>
                    <a:bodyPr/>
                    <a:lstStyle/>
                    <a:p>
                      <a:r>
                        <a:rPr sz="1725" b="0">
                          <a:solidFill>
                            <a:srgbClr val="172F42"/>
                          </a:solidFill>
                          <a:latin typeface="Arial"/>
                          <a:ea typeface="Arial"/>
                          <a:cs typeface="Arial"/>
                        </a:rPr>
                        <a:t>Knowledge completion</a:t>
                      </a:r>
                    </a:p>
                  </a:txBody>
                  <a:tcPr marL="91440" marR="91440" marT="45720" marB="45720">
                    <a:solidFill>
                      <a:srgbClr val="EAF1F4"/>
                    </a:solidFill>
                  </a:tcPr>
                </a:tc>
                <a:tc>
                  <a:txBody>
                    <a:bodyPr/>
                    <a:lstStyle/>
                    <a:p>
                      <a:r>
                        <a:rPr sz="1725" b="0">
                          <a:solidFill>
                            <a:srgbClr val="172F42"/>
                          </a:solidFill>
                          <a:latin typeface="Arial"/>
                          <a:ea typeface="Arial"/>
                          <a:cs typeface="Arial"/>
                        </a:rPr>
                        <a:t>Verify remaining recipients, issue-specific provisions and portal fields.</a:t>
                      </a:r>
                    </a:p>
                  </a:txBody>
                  <a:tcPr marL="91440" marR="91440" marT="45720" marB="45720">
                    <a:solidFill>
                      <a:srgbClr val="EAF1F4"/>
                    </a:solidFill>
                  </a:tcPr>
                </a:tc>
              </a:tr>
              <a:tr h="746760">
                <a:tc>
                  <a:txBody>
                    <a:bodyPr/>
                    <a:lstStyle/>
                    <a:p>
                      <a:r>
                        <a:rPr sz="1725" b="0">
                          <a:solidFill>
                            <a:srgbClr val="172F42"/>
                          </a:solidFill>
                          <a:latin typeface="Arial"/>
                          <a:ea typeface="Arial"/>
                          <a:cs typeface="Arial"/>
                        </a:rPr>
                        <a:t>Public pilot hardening</a:t>
                      </a:r>
                    </a:p>
                  </a:txBody>
                  <a:tcPr marL="91440" marR="91440" marT="45720" marB="45720">
                    <a:solidFill>
                      <a:srgbClr val="FFFFFF"/>
                    </a:solidFill>
                  </a:tcPr>
                </a:tc>
                <a:tc>
                  <a:txBody>
                    <a:bodyPr/>
                    <a:lstStyle/>
                    <a:p>
                      <a:r>
                        <a:rPr sz="1725" b="0">
                          <a:solidFill>
                            <a:srgbClr val="172F42"/>
                          </a:solidFill>
                          <a:latin typeface="Arial"/>
                          <a:ea typeface="Arial"/>
                          <a:cs typeface="Arial"/>
                        </a:rPr>
                        <a:t>Validate Urdu AI accuracy and live drafting, privacy, access and usability.</a:t>
                      </a:r>
                    </a:p>
                  </a:txBody>
                  <a:tcPr marL="91440" marR="91440" marT="45720" marB="45720">
                    <a:solidFill>
                      <a:srgbClr val="FFFFFF"/>
                    </a:solidFill>
                  </a:tcPr>
                </a:tc>
              </a:tr>
              <a:tr h="746760">
                <a:tc>
                  <a:txBody>
                    <a:bodyPr/>
                    <a:lstStyle/>
                    <a:p>
                      <a:r>
                        <a:rPr sz="1725" b="0">
                          <a:solidFill>
                            <a:srgbClr val="172F42"/>
                          </a:solidFill>
                          <a:latin typeface="Arial"/>
                          <a:ea typeface="Arial"/>
                          <a:cs typeface="Arial"/>
                        </a:rPr>
                        <a:t>Later integrations</a:t>
                      </a:r>
                    </a:p>
                  </a:txBody>
                  <a:tcPr marL="91440" marR="91440" marT="45720" marB="45720">
                    <a:solidFill>
                      <a:srgbClr val="EAF1F4"/>
                    </a:solidFill>
                  </a:tcPr>
                </a:tc>
                <a:tc>
                  <a:txBody>
                    <a:bodyPr/>
                    <a:lstStyle/>
                    <a:p>
                      <a:r>
                        <a:rPr sz="1725" b="0">
                          <a:solidFill>
                            <a:srgbClr val="172F42"/>
                          </a:solidFill>
                          <a:latin typeface="Arial"/>
                          <a:ea typeface="Arial"/>
                          <a:cs typeface="Arial"/>
                        </a:rPr>
                        <a:t>Consider authorized autofill, dispatch and authentic status reconciliation.</a:t>
                      </a:r>
                    </a:p>
                  </a:txBody>
                  <a:tcPr marL="91440" marR="91440" marT="45720" marB="45720">
                    <a:solidFill>
                      <a:srgbClr val="EAF1F4"/>
                    </a:solidFill>
                  </a:tcPr>
                </a:tc>
              </a:tr>
            </a:tbl>
          </a:graphicData>
        </a:graphic>
      </p:graphicFrame>
      <p:sp>
        <p:nvSpPr>
          <p:cNvPr id="5" name="Rectangle 4">
            <a:extLst xmlns:a="http://schemas.openxmlformats.org/drawingml/2006/main">
              <a:ext uri="{FF2B5EF4-FFF2-40B4-BE49-F238E27FC236}">
                <a16:creationId xmlns:a16="http://schemas.microsoft.com/office/drawing/2014/main" id="{A5769166-31DB-4FA8-A1B6-4ADEA9DDD86A}"/>
              </a:ext>
            </a:extLst>
          </p:cNvPr>
          <p:cNvSpPr>
            <a:spLocks xmlns:a="http://schemas.openxmlformats.org/drawingml/2006/main" noGrp="1"/>
          </p:cNvSpPr>
          <p:nvPr/>
        </p:nvSpPr>
        <p:spPr>
          <a:xfrm xmlns:a="http://schemas.openxmlformats.org/drawingml/2006/main">
            <a:off x="619125" y="57340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72F42"/>
                </a:solidFill>
                <a:latin typeface="Arial"/>
                <a:ea typeface="Arial"/>
                <a:cs typeface="Arial"/>
              </a:defRPr>
            </a:pPr>
            <a:r>
              <a:rPr sz="1800" b="0">
                <a:solidFill>
                  <a:srgbClr val="172F42"/>
                </a:solidFill>
                <a:latin typeface="Arial"/>
                <a:ea typeface="Arial"/>
                <a:cs typeface="Arial"/>
              </a:rPr>
              <a:t>Audio remains disabled after unreliable Urdu transcription. Dates and budget need approval.</a:t>
            </a:r>
          </a:p>
        </p:txBody>
      </p:sp>
    </p:spTree>
    <p:extLst>
      <p:ext uri="{BB962C8B-B14F-4D97-AF65-F5344CB8AC3E}">
        <p14:creationId xmlns:p14="http://schemas.microsoft.com/office/powerpoint/2010/main" val="7442528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2026-10-04T19:40:22.3510000Z</dcterms:created>
  <dcterms:modified xsi:type="dcterms:W3CDTF">2026-10-04T19:40:22.3510000Z</dcterms:modified>
</coreProperties>
</file>