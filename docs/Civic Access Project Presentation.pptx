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84f348ce904206" /><Relationship Type="http://schemas.openxmlformats.org/officeDocument/2006/relationships/extended-properties" Target="/docProps/app.xml" Id="Rea5cdc8800a448f9" /><Relationship Type="http://schemas.openxmlformats.org/officeDocument/2006/relationships/officeDocument" Target="/ppt/presentation.xml" Id="R262f308a591e4c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6cf1fd86734e8f"/>
  </p:sldMasterIdLst>
  <p:notesMasterIdLst>
    <p:notesMasterId xmlns:r="http://schemas.openxmlformats.org/officeDocument/2006/relationships" r:id="R3a57f7541cde4d9a"/>
  </p:notesMasterIdLst>
  <p:sldIdLst>
    <p:sldId xmlns:r="http://schemas.openxmlformats.org/officeDocument/2006/relationships" id="256" r:id="Rdedaced295c543af"/>
    <p:sldId xmlns:r="http://schemas.openxmlformats.org/officeDocument/2006/relationships" id="257" r:id="R31fa2987a56b4c64"/>
    <p:sldId xmlns:r="http://schemas.openxmlformats.org/officeDocument/2006/relationships" id="258" r:id="R17b262cd047e4afb"/>
    <p:sldId xmlns:r="http://schemas.openxmlformats.org/officeDocument/2006/relationships" id="259" r:id="R6862ac033c4842f8"/>
    <p:sldId xmlns:r="http://schemas.openxmlformats.org/officeDocument/2006/relationships" id="260" r:id="R8a56fe0418904b57"/>
    <p:sldId xmlns:r="http://schemas.openxmlformats.org/officeDocument/2006/relationships" id="261" r:id="Rb9d3a81b7fc14658"/>
    <p:sldId xmlns:r="http://schemas.openxmlformats.org/officeDocument/2006/relationships" id="262" r:id="R9f9ebac3916646cb"/>
    <p:sldId xmlns:r="http://schemas.openxmlformats.org/officeDocument/2006/relationships" id="263" r:id="Re40dc2da6d774cbb"/>
    <p:sldId xmlns:r="http://schemas.openxmlformats.org/officeDocument/2006/relationships" id="264" r:id="R7fd40ddcbd8d407b"/>
    <p:sldId xmlns:r="http://schemas.openxmlformats.org/officeDocument/2006/relationships" id="265" r:id="R1498cab68a2c44a1"/>
    <p:sldId xmlns:r="http://schemas.openxmlformats.org/officeDocument/2006/relationships" id="266" r:id="R00b33e51aa6549f9"/>
    <p:sldId xmlns:r="http://schemas.openxmlformats.org/officeDocument/2006/relationships" id="267" r:id="R13ad78ca52b14ef1"/>
    <p:sldId xmlns:r="http://schemas.openxmlformats.org/officeDocument/2006/relationships" id="268" r:id="R47febb3b75dd45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45aeae92b344df" /><Relationship Type="http://schemas.openxmlformats.org/officeDocument/2006/relationships/slideMaster" Target="/ppt/slideMasters/slideMaster1.xml" Id="R386cf1fd86734e8f" /><Relationship Type="http://schemas.openxmlformats.org/officeDocument/2006/relationships/notesMaster" Target="/ppt/notesMasters/notesMaster1.xml" Id="R3a57f7541cde4d9a" /><Relationship Type="http://schemas.openxmlformats.org/officeDocument/2006/relationships/presProps" Target="/ppt/presProps.xml" Id="Rfa80d2635c1941cc" /><Relationship Type="http://schemas.openxmlformats.org/officeDocument/2006/relationships/tableStyles" Target="/ppt/tableStyles.xml" Id="R1a0aaf4a6c7d4b58" /><Relationship Type="http://schemas.openxmlformats.org/officeDocument/2006/relationships/slide" Target="/ppt/slides/slide1.xml" Id="Rdedaced295c543af" /><Relationship Type="http://schemas.openxmlformats.org/officeDocument/2006/relationships/slide" Target="/ppt/slides/slide2.xml" Id="R31fa2987a56b4c64" /><Relationship Type="http://schemas.openxmlformats.org/officeDocument/2006/relationships/slide" Target="/ppt/slides/slide3.xml" Id="R17b262cd047e4afb" /><Relationship Type="http://schemas.openxmlformats.org/officeDocument/2006/relationships/slide" Target="/ppt/slides/slide4.xml" Id="R6862ac033c4842f8" /><Relationship Type="http://schemas.openxmlformats.org/officeDocument/2006/relationships/slide" Target="/ppt/slides/slide5.xml" Id="R8a56fe0418904b57" /><Relationship Type="http://schemas.openxmlformats.org/officeDocument/2006/relationships/slide" Target="/ppt/slides/slide6.xml" Id="Rb9d3a81b7fc14658" /><Relationship Type="http://schemas.openxmlformats.org/officeDocument/2006/relationships/slide" Target="/ppt/slides/slide7.xml" Id="R9f9ebac3916646cb" /><Relationship Type="http://schemas.openxmlformats.org/officeDocument/2006/relationships/slide" Target="/ppt/slides/slide8.xml" Id="Re40dc2da6d774cbb" /><Relationship Type="http://schemas.openxmlformats.org/officeDocument/2006/relationships/slide" Target="/ppt/slides/slide9.xml" Id="R7fd40ddcbd8d407b" /><Relationship Type="http://schemas.openxmlformats.org/officeDocument/2006/relationships/slide" Target="/ppt/slides/slide10.xml" Id="R1498cab68a2c44a1" /><Relationship Type="http://schemas.openxmlformats.org/officeDocument/2006/relationships/slide" Target="/ppt/slides/slide11.xml" Id="R00b33e51aa6549f9" /><Relationship Type="http://schemas.openxmlformats.org/officeDocument/2006/relationships/slide" Target="/ppt/slides/slide12.xml" Id="R13ad78ca52b14ef1" /><Relationship Type="http://schemas.openxmlformats.org/officeDocument/2006/relationships/slide" Target="/ppt/slides/slide13.xml" Id="R47febb3b75dd45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3be32c47f74e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19337618ab4b8d" /><Relationship Type="http://schemas.openxmlformats.org/officeDocument/2006/relationships/notesMaster" Target="/ppt/notesMasters/notesMaster1.xml" Id="R651eead7c9cc4c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9e0ef5513e4e58" /><Relationship Type="http://schemas.openxmlformats.org/officeDocument/2006/relationships/notesMaster" Target="/ppt/notesMasters/notesMaster1.xml" Id="Re8e5c832914c40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57f7ea34064bab" /><Relationship Type="http://schemas.openxmlformats.org/officeDocument/2006/relationships/notesMaster" Target="/ppt/notesMasters/notesMaster1.xml" Id="R93ac4eb19bff41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8dd66681f54769" /><Relationship Type="http://schemas.openxmlformats.org/officeDocument/2006/relationships/notesMaster" Target="/ppt/notesMasters/notesMaster1.xml" Id="Rfcfdedf64fd44b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bf1e1a52c34d28" /><Relationship Type="http://schemas.openxmlformats.org/officeDocument/2006/relationships/notesMaster" Target="/ppt/notesMasters/notesMaster1.xml" Id="R3aa44a7a4bfe44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937d04bff7443d" /><Relationship Type="http://schemas.openxmlformats.org/officeDocument/2006/relationships/notesMaster" Target="/ppt/notesMasters/notesMaster1.xml" Id="Re2cc665560d145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0621c71f2a4e19" /><Relationship Type="http://schemas.openxmlformats.org/officeDocument/2006/relationships/notesMaster" Target="/ppt/notesMasters/notesMaster1.xml" Id="R7f2ef7488f8240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0df46e896b4abd" /><Relationship Type="http://schemas.openxmlformats.org/officeDocument/2006/relationships/notesMaster" Target="/ppt/notesMasters/notesMaster1.xml" Id="R8d8cfe7f26d14e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3cb76a27804555" /><Relationship Type="http://schemas.openxmlformats.org/officeDocument/2006/relationships/notesMaster" Target="/ppt/notesMasters/notesMaster1.xml" Id="Rf0804d87ea354f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dc7d5147fb46a3" /><Relationship Type="http://schemas.openxmlformats.org/officeDocument/2006/relationships/notesMaster" Target="/ppt/notesMasters/notesMaster1.xml" Id="R4c51c377859043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05bc37a2134435" /><Relationship Type="http://schemas.openxmlformats.org/officeDocument/2006/relationships/notesMaster" Target="/ppt/notesMasters/notesMaster1.xml" Id="R4c66f35fe90c41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65ac5a04974512" /><Relationship Type="http://schemas.openxmlformats.org/officeDocument/2006/relationships/notesMaster" Target="/ppt/notesMasters/notesMaster1.xml" Id="R0a362211da1949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501d9459fb4399" /><Relationship Type="http://schemas.openxmlformats.org/officeDocument/2006/relationships/notesMaster" Target="/ppt/notesMasters/notesMaster1.xml" Id="Ra26504269ab247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presentation for the Pak Angels Pakistan National Impact Challenge.</a:t>
            </a:r>
          </a:p>
          <a:p xmlns:a="http://schemas.openxmlformats.org/drawingml/2006/main">
            <a:r>
              <a:t>Source: Project PRD v1.1; implementation baseline 598ca69. Capability counts describe the demonstration, not independently verified legal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PRD v1.1; implementation baseline 598ca69. Capability counts describe the demonstration, not independently verified legal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PRD v1.1; implementation baseline 598ca69. Capability counts describe the demonstration, not independently verified legal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PRD v1.1; implementation baseline 598ca69. Capability counts describe the demonstration, not independently verified legal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PRD v1.1; implementation baseline 598ca69. Capability counts describe the demonstration, not independently verified legal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PRD v1.1; implementation baseline 598ca69. Capability counts describe the demonstration, not independently verified legal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PRD v1.1; implementation baseline 598ca69. Capability counts describe the demonstration, not independently verified legal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PRD v1.1; implementation baseline 598ca69. Capability counts describe the demonstration, not independently verified legal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PRD v1.1; implementation baseline 598ca69. Capability counts describe the demonstration, not independently verified legal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deployed project captured during the verified update on 4 October 2026.</a:t>
            </a:r>
          </a:p>
          <a:p xmlns:a="http://schemas.openxmlformats.org/drawingml/2006/main">
            <a:r>
              <a:t>Source: Project PRD v1.1; implementation baseline 598ca69. Capability counts describe the demonstration, not independently verified legal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PRD v1.1; implementation baseline 598ca69. Capability counts describe the demonstration, not independently verified legal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PRD v1.1; implementation baseline 598ca69. Capability counts describe the demonstration, not independently verified legal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names, roles, email addresses and phone numbers supplied by the project owner for inclusion in this presentation and GitHub documentation.</a:t>
            </a:r>
          </a:p>
          <a:p xmlns:a="http://schemas.openxmlformats.org/drawingml/2006/main">
            <a:r>
              <a:t>Source: Project PRD v1.1; implementation baseline 598ca69. Capability counts describe the demonstration, not independently verified legal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b7c82fbd241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59d336a30b4762" /><Relationship Type="http://schemas.openxmlformats.org/officeDocument/2006/relationships/slideLayout" Target="/ppt/slideLayouts/slideLayout1.xml" Id="R797c6a6ce01b47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7c6a6ce01b47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36e0c729e4aa7" /><Relationship Type="http://schemas.openxmlformats.org/officeDocument/2006/relationships/notesSlide" Target="/ppt/notesSlides/notesSlide1.xml" Id="R41df6db9727341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227a9e2ce47ba" /><Relationship Type="http://schemas.openxmlformats.org/officeDocument/2006/relationships/notesSlide" Target="/ppt/notesSlides/notesSlide2.xml" Id="R143fc4277496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f6dac47c84155" /><Relationship Type="http://schemas.openxmlformats.org/officeDocument/2006/relationships/notesSlide" Target="/ppt/notesSlides/notesSlide3.xml" Id="R4a74842b43c449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da93591fa4f0f" /><Relationship Type="http://schemas.openxmlformats.org/officeDocument/2006/relationships/notesSlide" Target="/ppt/notesSlides/notesSlide4.xml" Id="R2fa07f75fd1946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5f3a0b7054ca9" /><Relationship Type="http://schemas.openxmlformats.org/officeDocument/2006/relationships/notesSlide" Target="/ppt/notesSlides/notesSlide5.xml" Id="Rbca4ba15cb5146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87f3f61ec479b" /><Relationship Type="http://schemas.openxmlformats.org/officeDocument/2006/relationships/notesSlide" Target="/ppt/notesSlides/notesSlide6.xml" Id="R560cb6c7df5e47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e0e08e7db412b" /><Relationship Type="http://schemas.openxmlformats.org/officeDocument/2006/relationships/notesSlide" Target="/ppt/notesSlides/notesSlide7.xml" Id="Rf7500986ee3649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a7fb40cab44f3" /><Relationship Type="http://schemas.openxmlformats.org/officeDocument/2006/relationships/notesSlide" Target="/ppt/notesSlides/notesSlide8.xml" Id="R82c22550525b45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e58b40ccc44fc" /><Relationship Type="http://schemas.openxmlformats.org/officeDocument/2006/relationships/notesSlide" Target="/ppt/notesSlides/notesSlide9.xml" Id="R9f6e3c9e02e848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db17fdd424ca7" /><Relationship Type="http://schemas.openxmlformats.org/officeDocument/2006/relationships/image" Target="/ppt/media/image.jpeg" Id="R866666a67b2d4b06" /><Relationship Type="http://schemas.openxmlformats.org/officeDocument/2006/relationships/notesSlide" Target="/ppt/notesSlides/notesSlide10.xml" Id="R3d4517f1781147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38f4087424a85" /><Relationship Type="http://schemas.openxmlformats.org/officeDocument/2006/relationships/notesSlide" Target="/ppt/notesSlides/notesSlide11.xml" Id="Re4958062a1f743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38e0b227e4874" /><Relationship Type="http://schemas.openxmlformats.org/officeDocument/2006/relationships/notesSlide" Target="/ppt/notesSlides/notesSlide12.xml" Id="R1eadb3a7318940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bb521a4e24d08" /><Relationship Type="http://schemas.openxmlformats.org/officeDocument/2006/relationships/notesSlide" Target="/ppt/notesSlides/notesSlide13.xml" Id="Rd30f9aac5bf548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CDDA5-D101-4F14-98E7-D5E6891D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Civic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1CBB9-8527-4143-A023-FE96C0E6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D9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D9DF"/>
                </a:solidFill>
                <a:latin typeface="Arial"/>
                <a:ea typeface="Arial"/>
                <a:cs typeface="Arial"/>
              </a:rPr>
              <a:t>Civic Access  •  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C1EA7-77D3-4957-A6F2-A6E83733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DD9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D9D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1BCEF-9B33-40A8-8A01-C2B920D0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621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Intelligent Public Grievance and</a:t>
            </a:r>
          </a:p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Statutory Escalation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D7B4B-BA8E-4F64-BEDD-06DE6B75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BDCE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BDCE2"/>
                </a:solidFill>
                <a:latin typeface="Arial"/>
                <a:ea typeface="Arial"/>
                <a:cs typeface="Arial"/>
              </a:rPr>
              <a:t>Complaint guidance, legal context and filing preparation</a:t>
            </a:r>
          </a:p>
          <a:p xmlns:a="http://schemas.openxmlformats.org/drawingml/2006/main">
            <a:pPr>
              <a:defRPr sz="2250" b="0">
                <a:solidFill>
                  <a:srgbClr val="BBDCE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BDCE2"/>
                </a:solidFill>
                <a:latin typeface="Arial"/>
                <a:ea typeface="Arial"/>
                <a:cs typeface="Arial"/>
              </a:rPr>
              <a:t>for citizens in Pakistan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78209-8AE6-4ED6-AB4C-412E24D1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578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Pak Angels • Pakistan National Impact Challenge</a:t>
            </a:r>
          </a:p>
        </p:txBody>
      </p:sp>
    </p:spTree>
    <p:extLst>
      <p:ext uri="{BB962C8B-B14F-4D97-AF65-F5344CB8AC3E}">
        <p14:creationId xmlns:p14="http://schemas.microsoft.com/office/powerpoint/2010/main" val="1923552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C9B9F-DF2A-43B3-B9F4-1842C7F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The citizen’s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FF7AB-1D8E-4E16-9751-D3C21E54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Civic Access  •  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5196F-8FA9-4A4C-B837-6B2D3600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828E5-D69F-408C-88A3-14B7FC80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A6667-26C2-4117-89A1-7657493B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097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Choosing the correct provider or authority is difficult.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2DAA5-9D11-4A29-A7C5-60A9436E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FEABB-182B-4A96-BBBA-1FB911DB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Rules, evidence requirements and complaint channels are scattered.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BC8D8-DD77-445C-A694-46640A7C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77BD5-439B-4A70-B1E5-D129FB86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147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An inaccurate recipient or premature escalation can delay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36133-19FD-4776-A1A4-D4DF3636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C6698-048D-45A6-B3F3-435FEB42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Citizens need a clear filing process and a record they can use.</a:t>
            </a:r>
          </a:p>
        </p:txBody>
      </p:sp>
    </p:spTree>
    <p:extLst>
      <p:ext uri="{BB962C8B-B14F-4D97-AF65-F5344CB8AC3E}">
        <p14:creationId xmlns:p14="http://schemas.microsoft.com/office/powerpoint/2010/main" val="12293093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ED762-99B2-4EB1-8B84-A6878E6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What the product helps people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1CA30-043D-4FC2-A192-3F82233A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Civic Access  •  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1888C-0940-4F68-BB39-0B5D1C4A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C0B1C-193C-4A1B-A3B7-B4CA860E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9EB03-AA95-4B51-8BA7-C4648A09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097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Describe the issue in English, Urdu or Roman Urdu.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D6BBD-6E2C-4CC6-8C84-7B6E0DBE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14126-AF71-4C73-B2DA-95BC4301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Confirm the department and understand its powers and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3244B-1831-4A5B-BACD-250DD192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5FA74-8B48-4984-B6EE-8381FFFA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147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Prepare the facts, relevant references and optional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F9CD3-22F4-41E3-ABA1-0C33A481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389A3-755D-45AC-952B-6F72B96D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Use the official channel and retain the acknowledgment.</a:t>
            </a:r>
          </a:p>
        </p:txBody>
      </p:sp>
    </p:spTree>
    <p:extLst>
      <p:ext uri="{BB962C8B-B14F-4D97-AF65-F5344CB8AC3E}">
        <p14:creationId xmlns:p14="http://schemas.microsoft.com/office/powerpoint/2010/main" val="1179905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01E0D-E14E-4168-BFAF-60E64CD0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The complaint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F9306-DC4B-487F-AFDB-6943A8F7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Civic Access  •  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FE777-6694-41CD-8F50-31E8CD19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877300"/>
              </a:tblGrid>
              <a:tr h="752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Citizen experience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Understand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Describe the issue and confirm provider, territory and complaint stage.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Prepare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Review legal context, readiness checklist and a downloadable petition.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File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Open the official portal or follow offline filing instructions.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Follow up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Record an acknowledgment and download a personal calendar reminder.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BCB29-4DE7-403B-880C-1D99A078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864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The citizen reviews and submits. The current app does not send complaints.</a:t>
            </a:r>
          </a:p>
        </p:txBody>
      </p:sp>
    </p:spTree>
    <p:extLst>
      <p:ext uri="{BB962C8B-B14F-4D97-AF65-F5344CB8AC3E}">
        <p14:creationId xmlns:p14="http://schemas.microsoft.com/office/powerpoint/2010/main" val="584308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36E40-27F5-44BF-9310-997F4CC5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Six specialist workflow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5037F-8143-4030-87C9-73B08BCB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Civic Access  •  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9FF3E-EAFF-4437-9528-174C105E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59599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01  Intake and OCR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Preserve the complaint and suggest details from optional documents.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02  Jurisdiction RAG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Retrieve scoped legal sources and identify the appropriate route.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03  Audit Readiness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Explain the evidence checklist and preparation score.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04  Petition Builder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Create a formal draft with source-linked applicable provisions.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05  Dispatch and Router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Provide official channels and offline instructions.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06  Tracker and Analytics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Provide reminders, filing records and consented aggregates.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56A86-CFBE-4E07-A4B8-2DE04029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864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Current implementation: six Python workflow stages, not six autonomous LLMs.</a:t>
            </a:r>
          </a:p>
        </p:txBody>
      </p:sp>
    </p:spTree>
    <p:extLst>
      <p:ext uri="{BB962C8B-B14F-4D97-AF65-F5344CB8AC3E}">
        <p14:creationId xmlns:p14="http://schemas.microsoft.com/office/powerpoint/2010/main" val="1831139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C6F73-0574-4DED-90A5-A2CA9FEB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Service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D0F7E-8CC1-4DD0-8B1D-8F428427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Civic Access  •  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4A6F9-35EE-444A-B759-A2EFB29E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8639175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Sector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Coverage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Electricity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11 public DISCOs, K-Electric and NEPRA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Telecom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Jazz, Zong, Ufone, Telenor, Onic, PTCL, SCOM/SCO and PTA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Banking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Banking Mohtasib Pakistan and State Bank; institution-first Sunwai guidance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Other institutions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PEMRA, gas utilities, OGRA, federal and provincial service bodies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497A4-5B46-43D4-A47E-1557DE73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721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83 directory entries • 83 guidance profiles • 278 source summaries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6F15B-1DDF-4684-A06B-10EE7224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Research depth varies; these counts do not mean every legal filing route is fully verified.</a:t>
            </a:r>
          </a:p>
        </p:txBody>
      </p:sp>
    </p:spTree>
    <p:extLst>
      <p:ext uri="{BB962C8B-B14F-4D97-AF65-F5344CB8AC3E}">
        <p14:creationId xmlns:p14="http://schemas.microsoft.com/office/powerpoint/2010/main" val="17708962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45336-9AFD-41AE-8F80-E7FE3918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The provider comes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983A9-38D9-4E1F-A8B1-D916E95F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Civic Access  •  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A7926-F2C7-4AF3-88CB-992EA7DA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781425"/>
                <a:gridCol w="495300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 step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Possible next forum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Telecom service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Complain to the actual operator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PTA, subject to eligibility and earlier records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Electricity bill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Complain to the supplier on the bill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NEPRA, where the procedure applies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Banking service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Complain to the financial institution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BMP or SBP according to jurisdiction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7C881-9F97-4533-A3A2-E132C728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6257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SBP is not a general appeal from Banking Mohtasib decisions.</a:t>
            </a:r>
          </a:p>
          <a:p xmlns:a="http://schemas.openxmlformats.org/drawingml/2006/main">
            <a:pPr>
              <a:defRPr sz="18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Territorial, court and formal-appeal exceptions require review.</a:t>
            </a:r>
          </a:p>
        </p:txBody>
      </p:sp>
    </p:spTree>
    <p:extLst>
      <p:ext uri="{BB962C8B-B14F-4D97-AF65-F5344CB8AC3E}">
        <p14:creationId xmlns:p14="http://schemas.microsoft.com/office/powerpoint/2010/main" val="405854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1537C-9F07-4CD4-B6FF-C7F26D90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Legal guidance people can inspect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E97BF-E172-410D-B657-BFEC9D60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Civic Access  •  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DDE14-F13E-4071-87CA-61B940EA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D141D-2E58-404B-AAC4-24868253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82928-F817-4E2B-B935-B8E647D3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097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Explain the governing framework, rights and available remedies.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28C93-2C2D-4E42-A1D7-FC9B9DE2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8F82E-C011-4B9E-9A72-03057457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Attach official sources and distinguish procedure from alleged breach.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FF1A5-814A-4423-977C-688142C9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1A678-B39F-4467-A818-C6BE7B4C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147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Use a verified receiving role where available; disclose missing details.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6434F-DA08-49A9-A2A8-1885796E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0972D-9983-40EC-8F30-25B75F63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Flag conflicting rules, uncertain jurisdiction and outdated material.</a:t>
            </a:r>
          </a:p>
        </p:txBody>
      </p:sp>
    </p:spTree>
    <p:extLst>
      <p:ext uri="{BB962C8B-B14F-4D97-AF65-F5344CB8AC3E}">
        <p14:creationId xmlns:p14="http://schemas.microsoft.com/office/powerpoint/2010/main" val="18486513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AF016-AEC4-4018-A716-FE943CA8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FIR and Right to 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AA74F-C4E2-4F7D-8019-424A5D63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Civic Access  •  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D52F8-D1CD-4C36-B3C4-CB2C001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E2D91-8650-45DF-B4EA-1C0CCBD2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FIR and Offence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200B7-25D0-4773-9087-6D982541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50958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13 common incident scenarios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Fact questions and potential PPC or PECA provisions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CrPC reporting procedure and evidence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896B8-CAA9-4F50-9305-95D9AE44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Right to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F91E3-CFC4-455D-8CD6-FBCA82C6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953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Federal and provincial guidance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Identify the record holder and request specific records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Download a request and understand review options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F46C3-D487-4966-A81A-16A79EB8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007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The app does not determine guilt, guarantee FIR registration or assume an unverified territorial law.</a:t>
            </a:r>
          </a:p>
        </p:txBody>
      </p:sp>
    </p:spTree>
    <p:extLst>
      <p:ext uri="{BB962C8B-B14F-4D97-AF65-F5344CB8AC3E}">
        <p14:creationId xmlns:p14="http://schemas.microsoft.com/office/powerpoint/2010/main" val="21204695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22C35-53D0-41B3-AE64-A190B2A1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The deployed RTI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79C1E-7831-40F4-A85C-5DE3BEA3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Civic Access  •  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C6834-F46C-4E37-B82C-72C9E02D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666a67b2d4b06"/>
          <a:stretch xmlns:a="http://schemas.openxmlformats.org/drawingml/2006/main"/>
        </p:blipFill>
        <p:spPr>
          <a:xfrm xmlns:a="http://schemas.openxmlformats.org/drawingml/2006/main">
            <a:off x="1180607" y="1476375"/>
            <a:ext cx="9830787" cy="44481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6676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EFFC8-EAB1-4F92-9827-4BB32DD4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Privacy and user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6886B-43A9-4ACC-A4B0-35A881E4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Civic Access  •  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06DE1-1BE4-40FD-9D8F-0F071359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A3A86-7C03-4D1F-B35E-31320CC9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D03BC-E471-41C7-BB02-3A91D740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097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Guidance and official links are accessible without identity details.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CB06C-84BC-4118-93FB-C930FC94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AD4E9-65A4-4B7B-B5AA-5AD8147F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Petition identity fields: CNIC number, expiry date and mobile number.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140A5-5F4E-4919-BB4A-0A94188A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969B7-4354-4975-8435-1810E27A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147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All uploads are optional; users review OCR and generated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011C4-F87C-4180-9E8E-BD8F75E2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454C9-C4BF-4E9C-BE87-F0BEC5E0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Private cases are session-local; analytics requires separate consent.</a:t>
            </a:r>
          </a:p>
        </p:txBody>
      </p:sp>
    </p:spTree>
    <p:extLst>
      <p:ext uri="{BB962C8B-B14F-4D97-AF65-F5344CB8AC3E}">
        <p14:creationId xmlns:p14="http://schemas.microsoft.com/office/powerpoint/2010/main" val="15477721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E397B-2C88-49B2-92C1-63967E57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Current release and next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45A3F-6065-4634-A5DC-6D8352EF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Civic Access  •  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DC659-0431-475A-A837-0E7CA419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74676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 and next outcome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Working demonstration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Text intake, guidance, petitions, FIR and RTI journeys; 151 tests passed.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Knowledge completion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Verify remaining recipients, issue-specific provisions and portal fields.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Public pilot hardening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Add administrator authorization, privacy controls and usability evaluation.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Later integrations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Consider authorized autofill, dispatch and authentic status reconciliation.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69166-31DB-4FA8-A1B6-4ADEA9DD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Audio remains disabled after unreliable Urdu transcription. Dates and budget need approval.</a:t>
            </a:r>
          </a:p>
        </p:txBody>
      </p:sp>
    </p:spTree>
    <p:extLst>
      <p:ext uri="{BB962C8B-B14F-4D97-AF65-F5344CB8AC3E}">
        <p14:creationId xmlns:p14="http://schemas.microsoft.com/office/powerpoint/2010/main" val="7442528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A267C-6C41-4EBE-83EE-2C3400E3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4E8A8-355A-42D3-AD9D-F1279299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Civic Access  •  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243B5-8AEC-49A3-9CAE-997A228B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000250"/>
                <a:gridCol w="4381500"/>
                <a:gridCol w="2352675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Name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Email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Cell phone</a:t>
                      </a:r>
                    </a:p>
                  </a:txBody>
                  <a:tcPr marL="91440" marR="91440" marT="45720" marB="45720">
                    <a:solidFill>
                      <a:srgbClr val="23485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Team Leader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Sajjad Ahmad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sajjad.danish@gmail.com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03005996696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Team Member #01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Anam Arif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anamarif28@gmail.com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03005025666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Team Member #02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Junaid Nagi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junaidnagi@gmail.com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03005525526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Team Member #03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Maleeha Saeed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maleehasaeed79@gmail.com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2"/>
                          </a:solidFill>
                          <a:latin typeface="Arial"/>
                          <a:ea typeface="Arial"/>
                          <a:cs typeface="Arial"/>
                        </a:rPr>
                        <a:t>03005359436</a:t>
                      </a:r>
                    </a:p>
                  </a:txBody>
                  <a:tcPr marL="91440" marR="91440" marT="45720" marB="45720"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C0F25-CCB8-4B44-8063-D6AEB79A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7A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7A79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C8A0A-964D-4BC8-AFCC-98B2F3C2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https://public-grievance-platform.streamlit.app/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459423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2026-10-04T04:21:58.6390000Z</dcterms:created>
  <dcterms:modified xsi:type="dcterms:W3CDTF">2026-10-04T04:21:58.6390000Z</dcterms:modified>
</coreProperties>
</file>